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Robo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Sashank Verman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11-14T11:13:07.242">
    <p:pos x="145" y="86"/>
    <p:text>@mrasheedazeez@gmail.com this is marked more, please make better</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4-11-14T11:15:16.924">
    <p:pos x="145" y="86"/>
    <p:text>@mrasheedazeez@gmail.com fill for gavin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A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14aa5c2d6a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14aa5c2d6a_2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14aa5c2d6a_2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fa356b87a4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Why important to society</a:t>
            </a:r>
            <a:endParaRPr/>
          </a:p>
        </p:txBody>
      </p:sp>
      <p:sp>
        <p:nvSpPr>
          <p:cNvPr id="113" name="Google Shape;113;g2fa356b87a4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fa356b87a4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What problem you’re solving that others aren’t doing</a:t>
            </a:r>
            <a:endParaRPr/>
          </a:p>
        </p:txBody>
      </p:sp>
      <p:sp>
        <p:nvSpPr>
          <p:cNvPr id="122" name="Google Shape;122;g2fa356b87a4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14bbfa03bf_3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314bbfa03bf_3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14bbfa03bf_2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14bbfa03bf_2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AU"/>
              <a:t>First paper - Compare vgg with and without preprocessing but tested for both classification and segmentation. We only use it for classification. Preprocessing required stacking 3-4 different one to get results</a:t>
            </a:r>
            <a:endParaRPr/>
          </a:p>
          <a:p>
            <a:pPr indent="0" lvl="0" marL="457200" rtl="0" algn="l">
              <a:spcBef>
                <a:spcPts val="0"/>
              </a:spcBef>
              <a:spcAft>
                <a:spcPts val="0"/>
              </a:spcAft>
              <a:buNone/>
            </a:pPr>
            <a:r>
              <a:t/>
            </a:r>
            <a:endParaRPr/>
          </a:p>
        </p:txBody>
      </p:sp>
      <p:sp>
        <p:nvSpPr>
          <p:cNvPr id="159" name="Google Shape;159;g314bbfa03bf_2_2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14bbfa03bf_2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14bbfa03bf_2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AU"/>
              <a:t>it utilizes dilated convolutions and a different architecture that can capture multi-scale context</a:t>
            </a:r>
            <a:endParaRPr/>
          </a:p>
          <a:p>
            <a:pPr indent="-317500" lvl="0" marL="457200" rtl="0" algn="l">
              <a:spcBef>
                <a:spcPts val="0"/>
              </a:spcBef>
              <a:spcAft>
                <a:spcPts val="0"/>
              </a:spcAft>
              <a:buSzPts val="1400"/>
              <a:buChar char="●"/>
            </a:pPr>
            <a:r>
              <a:rPr lang="en-AU"/>
              <a:t>Both used different approaches to achieve the same goal of extracting different level of details</a:t>
            </a:r>
            <a:endParaRPr/>
          </a:p>
          <a:p>
            <a:pPr indent="-317500" lvl="0" marL="457200" rtl="0" algn="l">
              <a:spcBef>
                <a:spcPts val="0"/>
              </a:spcBef>
              <a:spcAft>
                <a:spcPts val="0"/>
              </a:spcAft>
              <a:buSzPts val="1400"/>
              <a:buChar char="●"/>
            </a:pPr>
            <a:r>
              <a:rPr lang="en-AU"/>
              <a:t>Unet - about the encoder-decoder logic and structure</a:t>
            </a:r>
            <a:endParaRPr/>
          </a:p>
          <a:p>
            <a:pPr indent="0" lvl="0" marL="457200" rtl="0" algn="l">
              <a:spcBef>
                <a:spcPts val="0"/>
              </a:spcBef>
              <a:spcAft>
                <a:spcPts val="0"/>
              </a:spcAft>
              <a:buNone/>
            </a:pPr>
            <a:r>
              <a:t/>
            </a:r>
            <a:endParaRPr/>
          </a:p>
        </p:txBody>
      </p:sp>
      <p:sp>
        <p:nvSpPr>
          <p:cNvPr id="169" name="Google Shape;169;g314bbfa03bf_2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0a61e956a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Classify into 3 categories</a:t>
            </a:r>
            <a:endParaRPr/>
          </a:p>
        </p:txBody>
      </p:sp>
      <p:sp>
        <p:nvSpPr>
          <p:cNvPr id="178" name="Google Shape;178;g30a61e956a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0a61e956aa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Skip connection helps with gradient flow and combine high level info with local details.</a:t>
            </a:r>
            <a:endParaRPr/>
          </a:p>
          <a:p>
            <a:pPr indent="0" lvl="0" marL="0" rtl="0" algn="l">
              <a:spcBef>
                <a:spcPts val="0"/>
              </a:spcBef>
              <a:spcAft>
                <a:spcPts val="0"/>
              </a:spcAft>
              <a:buNone/>
            </a:pPr>
            <a:r>
              <a:rPr lang="en-AU"/>
              <a:t>Fully convolutional replace fully connected layers - Can handle input images of any size, uses less computational cost</a:t>
            </a:r>
            <a:endParaRPr/>
          </a:p>
        </p:txBody>
      </p:sp>
      <p:sp>
        <p:nvSpPr>
          <p:cNvPr id="188" name="Google Shape;188;g30a61e956aa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14bbfa03bf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14bbfa03bf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There were three main steps to our segmentation approach, </a:t>
            </a:r>
            <a:endParaRPr/>
          </a:p>
          <a:p>
            <a:pPr indent="0" lvl="0" marL="0" rtl="0" algn="l">
              <a:spcBef>
                <a:spcPts val="0"/>
              </a:spcBef>
              <a:spcAft>
                <a:spcPts val="0"/>
              </a:spcAft>
              <a:buNone/>
            </a:pPr>
            <a:r>
              <a:rPr lang="en-AU"/>
              <a:t>starting with Traditional segmentation and </a:t>
            </a:r>
            <a:endParaRPr/>
          </a:p>
          <a:p>
            <a:pPr indent="0" lvl="0" marL="0" rtl="0" algn="l">
              <a:spcBef>
                <a:spcPts val="0"/>
              </a:spcBef>
              <a:spcAft>
                <a:spcPts val="0"/>
              </a:spcAft>
              <a:buNone/>
            </a:pPr>
            <a:r>
              <a:rPr lang="en-AU"/>
              <a:t>then moving on to using more established models like DeepLabV3 and Unet.</a:t>
            </a:r>
            <a:endParaRPr/>
          </a:p>
          <a:p>
            <a:pPr indent="0" lvl="0" marL="0" rtl="0" algn="l">
              <a:spcBef>
                <a:spcPts val="0"/>
              </a:spcBef>
              <a:spcAft>
                <a:spcPts val="0"/>
              </a:spcAft>
              <a:buNone/>
            </a:pPr>
            <a:r>
              <a:rPr lang="en-AU"/>
              <a:t>These models have been proven to be very effective in multiple are </a:t>
            </a:r>
            <a:r>
              <a:rPr lang="en-AU"/>
              <a:t>apparent</a:t>
            </a:r>
            <a:r>
              <a:rPr lang="en-AU"/>
              <a:t> </a:t>
            </a:r>
            <a:r>
              <a:rPr lang="en-AU"/>
              <a:t>across</a:t>
            </a:r>
            <a:r>
              <a:rPr lang="en-AU"/>
              <a:t> different papers.</a:t>
            </a:r>
            <a:endParaRPr/>
          </a:p>
          <a:p>
            <a:pPr indent="0" lvl="0" marL="0" rtl="0" algn="l">
              <a:spcBef>
                <a:spcPts val="0"/>
              </a:spcBef>
              <a:spcAft>
                <a:spcPts val="0"/>
              </a:spcAft>
              <a:buNone/>
            </a:pPr>
            <a:r>
              <a:rPr lang="en-AU"/>
              <a:t>Lastly, using the models trained to make and ensemble and finally a combined model.</a:t>
            </a:r>
            <a:endParaRPr/>
          </a:p>
        </p:txBody>
      </p:sp>
      <p:sp>
        <p:nvSpPr>
          <p:cNvPr id="200" name="Google Shape;200;g314bbfa03bf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14bbfa03bf_4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14bbfa03bf_4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In terms of data preparation we resized the images to a standard 256x256, </a:t>
            </a:r>
            <a:endParaRPr/>
          </a:p>
          <a:p>
            <a:pPr indent="0" lvl="0" marL="0" rtl="0" algn="l">
              <a:spcBef>
                <a:spcPts val="0"/>
              </a:spcBef>
              <a:spcAft>
                <a:spcPts val="0"/>
              </a:spcAft>
              <a:buNone/>
            </a:pPr>
            <a:r>
              <a:rPr lang="en-AU"/>
              <a:t>then converted the images to tensors. </a:t>
            </a:r>
            <a:endParaRPr/>
          </a:p>
          <a:p>
            <a:pPr indent="0" lvl="0" marL="0" rtl="0" algn="l">
              <a:spcBef>
                <a:spcPts val="0"/>
              </a:spcBef>
              <a:spcAft>
                <a:spcPts val="0"/>
              </a:spcAft>
              <a:buNone/>
            </a:pPr>
            <a:r>
              <a:rPr lang="en-AU"/>
              <a:t>We then load the all the three classes for the training of the model. </a:t>
            </a:r>
            <a:endParaRPr/>
          </a:p>
          <a:p>
            <a:pPr indent="0" lvl="0" marL="0" rtl="0" algn="l">
              <a:spcBef>
                <a:spcPts val="0"/>
              </a:spcBef>
              <a:spcAft>
                <a:spcPts val="0"/>
              </a:spcAft>
              <a:buNone/>
            </a:pPr>
            <a:r>
              <a:rPr lang="en-AU"/>
              <a:t>Finally, performed data augmentation to increase the training data volume</a:t>
            </a:r>
            <a:endParaRPr/>
          </a:p>
          <a:p>
            <a:pPr indent="0" lvl="0" marL="0" rtl="0" algn="l">
              <a:spcBef>
                <a:spcPts val="0"/>
              </a:spcBef>
              <a:spcAft>
                <a:spcPts val="0"/>
              </a:spcAft>
              <a:buNone/>
            </a:pPr>
            <a:r>
              <a:rPr lang="en-AU"/>
              <a:t>And resampling to better </a:t>
            </a:r>
            <a:r>
              <a:rPr lang="en-AU"/>
              <a:t>balance of</a:t>
            </a:r>
            <a:r>
              <a:rPr lang="en-AU"/>
              <a:t> images we had for each class.</a:t>
            </a:r>
            <a:endParaRPr/>
          </a:p>
        </p:txBody>
      </p:sp>
      <p:sp>
        <p:nvSpPr>
          <p:cNvPr id="209" name="Google Shape;209;g314bbfa03bf_4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The goal here was to make an </a:t>
            </a:r>
            <a:r>
              <a:rPr lang="en-AU"/>
              <a:t>algorithm</a:t>
            </a:r>
            <a:r>
              <a:rPr lang="en-AU"/>
              <a:t> that performed image segmentation using </a:t>
            </a:r>
            <a:endParaRPr/>
          </a:p>
          <a:p>
            <a:pPr indent="0" lvl="0" marL="0" rtl="0" algn="l">
              <a:spcBef>
                <a:spcPts val="0"/>
              </a:spcBef>
              <a:spcAft>
                <a:spcPts val="0"/>
              </a:spcAft>
              <a:buNone/>
            </a:pPr>
            <a:r>
              <a:rPr lang="en-AU"/>
              <a:t>intensity thresholding and </a:t>
            </a:r>
            <a:endParaRPr/>
          </a:p>
          <a:p>
            <a:pPr indent="0" lvl="0" marL="0" rtl="0" algn="l">
              <a:spcBef>
                <a:spcPts val="0"/>
              </a:spcBef>
              <a:spcAft>
                <a:spcPts val="0"/>
              </a:spcAft>
              <a:buNone/>
            </a:pPr>
            <a:r>
              <a:rPr lang="en-AU"/>
              <a:t>binary morphological operators. </a:t>
            </a:r>
            <a:endParaRPr/>
          </a:p>
          <a:p>
            <a:pPr indent="0" lvl="0" marL="0" rtl="0" algn="l">
              <a:spcBef>
                <a:spcPts val="0"/>
              </a:spcBef>
              <a:spcAft>
                <a:spcPts val="0"/>
              </a:spcAft>
              <a:buNone/>
            </a:pPr>
            <a:r>
              <a:rPr lang="en-AU"/>
              <a:t>This was done comparative analysis as will be shown in the results.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AU"/>
              <a:t>~~ M</a:t>
            </a:r>
            <a:r>
              <a:rPr lang="en-AU"/>
              <a:t>orphological operators</a:t>
            </a:r>
            <a:endParaRPr/>
          </a:p>
          <a:p>
            <a:pPr indent="0" lvl="0" marL="0" rtl="0" algn="l">
              <a:spcBef>
                <a:spcPts val="0"/>
              </a:spcBef>
              <a:spcAft>
                <a:spcPts val="0"/>
              </a:spcAft>
              <a:buNone/>
            </a:pPr>
            <a:r>
              <a:rPr lang="en-AU">
                <a:solidFill>
                  <a:srgbClr val="242424"/>
                </a:solidFill>
              </a:rPr>
              <a:t>Morphological operations manipulate an image based on its shape and structure. </a:t>
            </a:r>
            <a:endParaRPr>
              <a:solidFill>
                <a:srgbClr val="242424"/>
              </a:solidFill>
            </a:endParaRPr>
          </a:p>
          <a:p>
            <a:pPr indent="0" lvl="0" marL="0" rtl="0" algn="l">
              <a:spcBef>
                <a:spcPts val="0"/>
              </a:spcBef>
              <a:spcAft>
                <a:spcPts val="0"/>
              </a:spcAft>
              <a:buNone/>
            </a:pPr>
            <a:r>
              <a:rPr lang="en-AU">
                <a:solidFill>
                  <a:srgbClr val="242424"/>
                </a:solidFill>
              </a:rPr>
              <a:t>They work by convolving a structuring element (also known as a kernel) over the image and applying an operation at each location.</a:t>
            </a:r>
            <a:endParaRPr sz="900"/>
          </a:p>
        </p:txBody>
      </p:sp>
      <p:sp>
        <p:nvSpPr>
          <p:cNvPr id="218" name="Google Shape;21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14bbfa03bf_1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14bbfa03bf_1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Here we used theDeepLabV3 model for the breast cancer segmentation task</a:t>
            </a:r>
            <a:endParaRPr/>
          </a:p>
          <a:p>
            <a:pPr indent="0" lvl="0" marL="0" rtl="0" algn="l">
              <a:spcBef>
                <a:spcPts val="0"/>
              </a:spcBef>
              <a:spcAft>
                <a:spcPts val="0"/>
              </a:spcAft>
              <a:buNone/>
            </a:pPr>
            <a:r>
              <a:rPr lang="en-AU"/>
              <a:t>with a ResNet101 as </a:t>
            </a:r>
            <a:r>
              <a:rPr lang="en-AU"/>
              <a:t>its</a:t>
            </a:r>
            <a:r>
              <a:rPr lang="en-AU"/>
              <a:t> backbone. </a:t>
            </a:r>
            <a:endParaRPr/>
          </a:p>
          <a:p>
            <a:pPr indent="0" lvl="0" marL="0" rtl="0" algn="l">
              <a:spcBef>
                <a:spcPts val="0"/>
              </a:spcBef>
              <a:spcAft>
                <a:spcPts val="0"/>
              </a:spcAft>
              <a:buNone/>
            </a:pPr>
            <a:r>
              <a:rPr lang="en-AU"/>
              <a:t>DeepLabV3 was chosen as uses a special method that helps it understand the bigger picture in an image by looking at different detail levels. </a:t>
            </a:r>
            <a:endParaRPr/>
          </a:p>
          <a:p>
            <a:pPr indent="0" lvl="0" marL="0" rtl="0" algn="l">
              <a:spcBef>
                <a:spcPts val="0"/>
              </a:spcBef>
              <a:spcAft>
                <a:spcPts val="0"/>
              </a:spcAft>
              <a:buNone/>
            </a:pPr>
            <a:r>
              <a:rPr lang="en-AU"/>
              <a:t>This lets it capture more context without making the model more complicated or slower to process.</a:t>
            </a:r>
            <a:endParaRPr/>
          </a:p>
        </p:txBody>
      </p:sp>
      <p:sp>
        <p:nvSpPr>
          <p:cNvPr id="229" name="Google Shape;229;g314bbfa03bf_1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14aa5c2d6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Skip connection: Keep detailed spatial information with high resolution from early layers and semantic information from deeper layers and send the directly to the decoder path.</a:t>
            </a:r>
            <a:endParaRPr/>
          </a:p>
        </p:txBody>
      </p:sp>
      <p:sp>
        <p:nvSpPr>
          <p:cNvPr id="239" name="Google Shape;239;g314aa5c2d6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14bbfa03bf_1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Deeper unet: one extra layer added</a:t>
            </a:r>
            <a:endParaRPr/>
          </a:p>
        </p:txBody>
      </p:sp>
      <p:sp>
        <p:nvSpPr>
          <p:cNvPr id="249" name="Google Shape;249;g314bbfa03bf_1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14bbfa03bf_3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lnSpc>
                <a:spcPct val="115000"/>
              </a:lnSpc>
              <a:spcBef>
                <a:spcPts val="500"/>
              </a:spcBef>
              <a:spcAft>
                <a:spcPts val="0"/>
              </a:spcAft>
              <a:buSzPts val="1400"/>
              <a:buChar char="●"/>
            </a:pPr>
            <a:r>
              <a:rPr lang="en-AU" sz="1400"/>
              <a:t>Unet and deeplabv3 </a:t>
            </a:r>
            <a:r>
              <a:rPr lang="en-AU" sz="1400"/>
              <a:t>segmentation</a:t>
            </a:r>
            <a:r>
              <a:rPr lang="en-AU" sz="1400"/>
              <a:t> results were averaged to get the best ensemble result</a:t>
            </a:r>
            <a:endParaRPr sz="1400"/>
          </a:p>
          <a:p>
            <a:pPr indent="-317500" lvl="0" marL="457200" rtl="0" algn="l">
              <a:lnSpc>
                <a:spcPct val="115000"/>
              </a:lnSpc>
              <a:spcBef>
                <a:spcPts val="0"/>
              </a:spcBef>
              <a:spcAft>
                <a:spcPts val="0"/>
              </a:spcAft>
              <a:buSzPts val="1400"/>
              <a:buChar char="●"/>
            </a:pPr>
            <a:r>
              <a:rPr lang="en-AU" sz="1400"/>
              <a:t>Model with better performance - deeplabv3 for us - is prioritised, and swapped with unet only if confidence is below a certain threshold</a:t>
            </a:r>
            <a:endParaRPr sz="1400"/>
          </a:p>
        </p:txBody>
      </p:sp>
      <p:sp>
        <p:nvSpPr>
          <p:cNvPr id="258" name="Google Shape;258;g314bbfa03bf_3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14bbfa03bf_5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AU"/>
              <a:t>F1 score was selected as it provides a robust validation metric that focuses on balances precision and recall making it an all rounder for evaluating overall performance. We also have the confusion matrix which shows how well the model performed</a:t>
            </a:r>
            <a:endParaRPr/>
          </a:p>
        </p:txBody>
      </p:sp>
      <p:sp>
        <p:nvSpPr>
          <p:cNvPr id="268" name="Google Shape;268;g314bbfa03bf_5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14bbfa03bf_3_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g314bbfa03bf_3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14bbfa03bf_3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90000"/>
              </a:lnSpc>
              <a:spcBef>
                <a:spcPts val="1000"/>
              </a:spcBef>
              <a:spcAft>
                <a:spcPts val="0"/>
              </a:spcAft>
              <a:buNone/>
            </a:pPr>
            <a:r>
              <a:rPr lang="en-AU" sz="1100">
                <a:latin typeface="Arial"/>
                <a:ea typeface="Arial"/>
                <a:cs typeface="Arial"/>
                <a:sym typeface="Arial"/>
              </a:rPr>
              <a:t>We did not plot the traditional ml iou </a:t>
            </a:r>
            <a:r>
              <a:rPr lang="en-AU" sz="1100">
                <a:latin typeface="Arial"/>
                <a:ea typeface="Arial"/>
                <a:cs typeface="Arial"/>
                <a:sym typeface="Arial"/>
              </a:rPr>
              <a:t>results</a:t>
            </a:r>
            <a:r>
              <a:rPr lang="en-AU" sz="1100">
                <a:latin typeface="Arial"/>
                <a:ea typeface="Arial"/>
                <a:cs typeface="Arial"/>
                <a:sym typeface="Arial"/>
              </a:rPr>
              <a:t> as they are close to 0.</a:t>
            </a:r>
            <a:endParaRPr sz="1100">
              <a:latin typeface="Arial"/>
              <a:ea typeface="Arial"/>
              <a:cs typeface="Arial"/>
              <a:sym typeface="Arial"/>
            </a:endParaRPr>
          </a:p>
          <a:p>
            <a:pPr indent="0" lvl="0" marL="0" rtl="0" algn="l">
              <a:lnSpc>
                <a:spcPct val="90000"/>
              </a:lnSpc>
              <a:spcBef>
                <a:spcPts val="1000"/>
              </a:spcBef>
              <a:spcAft>
                <a:spcPts val="0"/>
              </a:spcAft>
              <a:buNone/>
            </a:pPr>
            <a:r>
              <a:rPr lang="en-AU" sz="1100">
                <a:latin typeface="Arial"/>
                <a:ea typeface="Arial"/>
                <a:cs typeface="Arial"/>
                <a:sym typeface="Arial"/>
              </a:rPr>
              <a:t>While there are many, we chose iou (Intersection over Union) as it is the most interpretable one.</a:t>
            </a:r>
            <a:endParaRPr sz="1100">
              <a:latin typeface="Arial"/>
              <a:ea typeface="Arial"/>
              <a:cs typeface="Arial"/>
              <a:sym typeface="Arial"/>
            </a:endParaRPr>
          </a:p>
        </p:txBody>
      </p:sp>
      <p:sp>
        <p:nvSpPr>
          <p:cNvPr id="291" name="Google Shape;291;g314bbfa03bf_3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14bbfa03bf_5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g314bbfa03bf_5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14bbfa03bf_3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314bbfa03bf_3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5" name="Shape 15"/>
        <p:cNvGrpSpPr/>
        <p:nvPr/>
      </p:nvGrpSpPr>
      <p:grpSpPr>
        <a:xfrm>
          <a:off x="0" y="0"/>
          <a:ext cx="0" cy="0"/>
          <a:chOff x="0" y="0"/>
          <a:chExt cx="0" cy="0"/>
        </a:xfrm>
      </p:grpSpPr>
      <p:sp>
        <p:nvSpPr>
          <p:cNvPr id="16" name="Google Shape;16;p2"/>
          <p:cNvSpPr/>
          <p:nvPr/>
        </p:nvSpPr>
        <p:spPr>
          <a:xfrm>
            <a:off x="1" y="1"/>
            <a:ext cx="5543550" cy="6858000"/>
          </a:xfrm>
          <a:prstGeom prst="rect">
            <a:avLst/>
          </a:prstGeom>
          <a:solidFill>
            <a:srgbClr val="FFDC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7" name="Google Shape;17;p2"/>
          <p:cNvPicPr preferRelativeResize="0"/>
          <p:nvPr/>
        </p:nvPicPr>
        <p:blipFill rotWithShape="1">
          <a:blip r:embed="rId2">
            <a:alphaModFix/>
          </a:blip>
          <a:srcRect b="0" l="0" r="0" t="0"/>
          <a:stretch/>
        </p:blipFill>
        <p:spPr>
          <a:xfrm rot="2999759">
            <a:off x="1292068" y="-612610"/>
            <a:ext cx="5135041" cy="7002330"/>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415055" y="4792776"/>
            <a:ext cx="1760572" cy="184224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9" name="Shape 19"/>
        <p:cNvGrpSpPr/>
        <p:nvPr/>
      </p:nvGrpSpPr>
      <p:grpSpPr>
        <a:xfrm>
          <a:off x="0" y="0"/>
          <a:ext cx="0" cy="0"/>
          <a:chOff x="0" y="0"/>
          <a:chExt cx="0" cy="0"/>
        </a:xfrm>
      </p:grpSpPr>
      <p:sp>
        <p:nvSpPr>
          <p:cNvPr id="20" name="Google Shape;20;p3"/>
          <p:cNvSpPr/>
          <p:nvPr/>
        </p:nvSpPr>
        <p:spPr>
          <a:xfrm rot="5400000">
            <a:off x="5706291" y="372292"/>
            <a:ext cx="779419" cy="12192000"/>
          </a:xfrm>
          <a:prstGeom prst="rect">
            <a:avLst/>
          </a:prstGeom>
          <a:solidFill>
            <a:srgbClr val="FFDC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404" u="none" cap="none" strike="noStrike">
              <a:solidFill>
                <a:schemeClr val="lt1"/>
              </a:solidFill>
              <a:latin typeface="Calibri"/>
              <a:ea typeface="Calibri"/>
              <a:cs typeface="Calibri"/>
              <a:sym typeface="Calibri"/>
            </a:endParaRPr>
          </a:p>
        </p:txBody>
      </p:sp>
      <p:pic>
        <p:nvPicPr>
          <p:cNvPr descr="A picture containing food&#10;&#10;Description automatically generated" id="21" name="Google Shape;21;p3"/>
          <p:cNvPicPr preferRelativeResize="0"/>
          <p:nvPr/>
        </p:nvPicPr>
        <p:blipFill rotWithShape="1">
          <a:blip r:embed="rId2">
            <a:alphaModFix/>
          </a:blip>
          <a:srcRect b="0" l="0" r="0" t="0"/>
          <a:stretch/>
        </p:blipFill>
        <p:spPr>
          <a:xfrm>
            <a:off x="11507849" y="6139546"/>
            <a:ext cx="598271" cy="701040"/>
          </a:xfrm>
          <a:prstGeom prst="rect">
            <a:avLst/>
          </a:prstGeom>
          <a:noFill/>
          <a:ln>
            <a:noFill/>
          </a:ln>
        </p:spPr>
      </p:pic>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08815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Arial"/>
                <a:ea typeface="Arial"/>
                <a:cs typeface="Arial"/>
                <a:sym typeface="Arial"/>
              </a:defRPr>
            </a:lvl1pPr>
            <a:lvl2pPr indent="-381000" lvl="1" marL="914400" algn="l">
              <a:lnSpc>
                <a:spcPct val="90000"/>
              </a:lnSpc>
              <a:spcBef>
                <a:spcPts val="500"/>
              </a:spcBef>
              <a:spcAft>
                <a:spcPts val="0"/>
              </a:spcAft>
              <a:buClr>
                <a:schemeClr val="dk1"/>
              </a:buClr>
              <a:buSzPts val="2400"/>
              <a:buChar char="•"/>
              <a:defRPr>
                <a:latin typeface="Arial"/>
                <a:ea typeface="Arial"/>
                <a:cs typeface="Arial"/>
                <a:sym typeface="Arial"/>
              </a:defRPr>
            </a:lvl2pPr>
            <a:lvl3pPr indent="-355600" lvl="2" marL="1371600" algn="l">
              <a:lnSpc>
                <a:spcPct val="90000"/>
              </a:lnSpc>
              <a:spcBef>
                <a:spcPts val="500"/>
              </a:spcBef>
              <a:spcAft>
                <a:spcPts val="0"/>
              </a:spcAft>
              <a:buClr>
                <a:schemeClr val="dk1"/>
              </a:buClr>
              <a:buSzPts val="2000"/>
              <a:buChar char="•"/>
              <a:defRPr>
                <a:latin typeface="Arial"/>
                <a:ea typeface="Arial"/>
                <a:cs typeface="Arial"/>
                <a:sym typeface="Arial"/>
              </a:defRPr>
            </a:lvl3pPr>
            <a:lvl4pPr indent="-342900" lvl="3" marL="1828800" algn="l">
              <a:lnSpc>
                <a:spcPct val="90000"/>
              </a:lnSpc>
              <a:spcBef>
                <a:spcPts val="500"/>
              </a:spcBef>
              <a:spcAft>
                <a:spcPts val="0"/>
              </a:spcAft>
              <a:buClr>
                <a:schemeClr val="dk1"/>
              </a:buClr>
              <a:buSzPts val="1800"/>
              <a:buChar char="•"/>
              <a:defRPr>
                <a:latin typeface="Arial"/>
                <a:ea typeface="Arial"/>
                <a:cs typeface="Arial"/>
                <a:sym typeface="Arial"/>
              </a:defRPr>
            </a:lvl4pPr>
            <a:lvl5pPr indent="-342900" lvl="4" marL="2286000" algn="l">
              <a:lnSpc>
                <a:spcPct val="90000"/>
              </a:lnSpc>
              <a:spcBef>
                <a:spcPts val="500"/>
              </a:spcBef>
              <a:spcAft>
                <a:spcPts val="0"/>
              </a:spcAft>
              <a:buClr>
                <a:schemeClr val="dk1"/>
              </a:buClr>
              <a:buSzPts val="1800"/>
              <a:buChar char="•"/>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7" name="Google Shape;57;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3" name="Google Shape;73;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2"/>
          <p:cNvSpPr/>
          <p:nvPr>
            <p:ph idx="2" type="pic"/>
          </p:nvPr>
        </p:nvSpPr>
        <p:spPr>
          <a:xfrm>
            <a:off x="5183188" y="987425"/>
            <a:ext cx="6172200" cy="4873625"/>
          </a:xfrm>
          <a:prstGeom prst="rect">
            <a:avLst/>
          </a:prstGeom>
          <a:noFill/>
          <a:ln>
            <a:noFill/>
          </a:ln>
        </p:spPr>
      </p:sp>
      <p:sp>
        <p:nvSpPr>
          <p:cNvPr id="80" name="Google Shape;80;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4" name="Shape 84"/>
        <p:cNvGrpSpPr/>
        <p:nvPr/>
      </p:nvGrpSpPr>
      <p:grpSpPr>
        <a:xfrm>
          <a:off x="0" y="0"/>
          <a:ext cx="0" cy="0"/>
          <a:chOff x="0" y="0"/>
          <a:chExt cx="0" cy="0"/>
        </a:xfrm>
      </p:grpSpPr>
      <p:sp>
        <p:nvSpPr>
          <p:cNvPr id="85" name="Google Shape;8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0" name="Shape 90"/>
        <p:cNvGrpSpPr/>
        <p:nvPr/>
      </p:nvGrpSpPr>
      <p:grpSpPr>
        <a:xfrm>
          <a:off x="0" y="0"/>
          <a:ext cx="0" cy="0"/>
          <a:chOff x="0" y="0"/>
          <a:chExt cx="0" cy="0"/>
        </a:xfrm>
      </p:grpSpPr>
      <p:sp>
        <p:nvSpPr>
          <p:cNvPr id="91" name="Google Shape;91;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A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sciencedirect.com/science/article/pii/S2352340919312181" TargetMode="External"/><Relationship Id="rId4" Type="http://schemas.openxmlformats.org/officeDocument/2006/relationships/hyperlink" Target="https://huggingface.co/datasets/gymprathap/Breast-Cancer-Ultrasound-Images-Datase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i.org/10.1016/j.heliyon.2023.e22406" TargetMode="External"/><Relationship Id="rId4" Type="http://schemas.openxmlformats.org/officeDocument/2006/relationships/hyperlink" Target="https://doi.org/10.1016/j.heliyon.2023.e22406" TargetMode="External"/><Relationship Id="rId5" Type="http://schemas.openxmlformats.org/officeDocument/2006/relationships/hyperlink" Target="https://doi.org/10.1063/5.008232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arxiv.org/abs/1505.04597" TargetMode="External"/><Relationship Id="rId4" Type="http://schemas.openxmlformats.org/officeDocument/2006/relationships/hyperlink" Target="https://arxiv.org/abs/1505.04597" TargetMode="External"/><Relationship Id="rId5" Type="http://schemas.openxmlformats.org/officeDocument/2006/relationships/hyperlink" Target="https://arxiv.org/abs/1706.05587" TargetMode="External"/><Relationship Id="rId6" Type="http://schemas.openxmlformats.org/officeDocument/2006/relationships/hyperlink" Target="https://arxiv.org/abs/1706.0558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hyperlink" Target="https://doi.org/10.1016/j.heliyon.2023.e22406" TargetMode="External"/><Relationship Id="rId5" Type="http://schemas.openxmlformats.org/officeDocument/2006/relationships/hyperlink" Target="https://doi.org/10.1016/j.heliyon.2023.e22406"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comments" Target="../comments/commen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jpg"/><Relationship Id="rId4" Type="http://schemas.openxmlformats.org/officeDocument/2006/relationships/hyperlink" Target="https://www.picpedia.org/highway-signs/q/questions.html" TargetMode="External"/><Relationship Id="rId5"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78572" y="1997551"/>
            <a:ext cx="5622600" cy="2862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AU" sz="3600">
                <a:solidFill>
                  <a:schemeClr val="dk1"/>
                </a:solidFill>
              </a:rPr>
              <a:t>Breast Cancer Classification and Segmentation Using Deep Learning on Ultrasound Images</a:t>
            </a:r>
            <a:endParaRPr b="1" i="0" sz="3600" u="none" cap="none" strike="noStrike">
              <a:solidFill>
                <a:schemeClr val="dk1"/>
              </a:solidFill>
              <a:latin typeface="Calibri"/>
              <a:ea typeface="Calibri"/>
              <a:cs typeface="Calibri"/>
              <a:sym typeface="Calibri"/>
            </a:endParaRPr>
          </a:p>
        </p:txBody>
      </p:sp>
      <p:sp>
        <p:nvSpPr>
          <p:cNvPr id="101" name="Google Shape;101;p15"/>
          <p:cNvSpPr txBox="1"/>
          <p:nvPr/>
        </p:nvSpPr>
        <p:spPr>
          <a:xfrm>
            <a:off x="5544026" y="2839015"/>
            <a:ext cx="6638100" cy="3478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AU" sz="4000">
                <a:solidFill>
                  <a:schemeClr val="dk1"/>
                </a:solidFill>
              </a:rPr>
              <a:t>Null Pointers</a:t>
            </a:r>
            <a:endParaRPr/>
          </a:p>
          <a:p>
            <a:pPr indent="0" lvl="0" marL="0" marR="0" rtl="0" algn="ctr">
              <a:spcBef>
                <a:spcPts val="0"/>
              </a:spcBef>
              <a:spcAft>
                <a:spcPts val="0"/>
              </a:spcAft>
              <a:buNone/>
            </a:pPr>
            <a:r>
              <a:t/>
            </a:r>
            <a:endParaRPr b="0" i="0" sz="40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lang="en-AU" sz="2800">
                <a:solidFill>
                  <a:schemeClr val="dk1"/>
                </a:solidFill>
              </a:rPr>
              <a:t>Rasheed Azeez </a:t>
            </a:r>
            <a:r>
              <a:rPr b="0" i="0" lang="en-AU" sz="2800" u="none" cap="none" strike="noStrike">
                <a:solidFill>
                  <a:schemeClr val="dk1"/>
                </a:solidFill>
                <a:latin typeface="Arial"/>
                <a:ea typeface="Arial"/>
                <a:cs typeface="Arial"/>
                <a:sym typeface="Arial"/>
              </a:rPr>
              <a:t>(z</a:t>
            </a:r>
            <a:r>
              <a:rPr lang="en-AU" sz="2800">
                <a:solidFill>
                  <a:schemeClr val="dk1"/>
                </a:solidFill>
              </a:rPr>
              <a:t>5547562</a:t>
            </a:r>
            <a:r>
              <a:rPr b="0" i="0" lang="en-AU" sz="2800" u="none" cap="none" strike="noStrike">
                <a:solidFill>
                  <a:schemeClr val="dk1"/>
                </a:solidFill>
                <a:latin typeface="Arial"/>
                <a:ea typeface="Arial"/>
                <a:cs typeface="Arial"/>
                <a:sym typeface="Arial"/>
              </a:rPr>
              <a:t>)</a:t>
            </a:r>
            <a:endParaRPr/>
          </a:p>
          <a:p>
            <a:pPr indent="0" lvl="0" marL="0" marR="0" rtl="0" algn="l">
              <a:spcBef>
                <a:spcPts val="0"/>
              </a:spcBef>
              <a:spcAft>
                <a:spcPts val="0"/>
              </a:spcAft>
              <a:buNone/>
            </a:pPr>
            <a:r>
              <a:rPr lang="en-AU" sz="2800">
                <a:solidFill>
                  <a:schemeClr val="dk1"/>
                </a:solidFill>
              </a:rPr>
              <a:t>Sashank Vermani </a:t>
            </a:r>
            <a:r>
              <a:rPr b="0" i="0" lang="en-AU" sz="2800" u="none" cap="none" strike="noStrike">
                <a:solidFill>
                  <a:schemeClr val="dk1"/>
                </a:solidFill>
                <a:latin typeface="Arial"/>
                <a:ea typeface="Arial"/>
                <a:cs typeface="Arial"/>
                <a:sym typeface="Arial"/>
              </a:rPr>
              <a:t>(</a:t>
            </a:r>
            <a:r>
              <a:rPr lang="en-AU" sz="2800">
                <a:solidFill>
                  <a:schemeClr val="dk1"/>
                </a:solidFill>
              </a:rPr>
              <a:t>z5424501</a:t>
            </a:r>
            <a:r>
              <a:rPr b="0" i="0" lang="en-AU" sz="2800" u="none" cap="none" strike="noStrike">
                <a:solidFill>
                  <a:schemeClr val="dk1"/>
                </a:solidFill>
                <a:latin typeface="Arial"/>
                <a:ea typeface="Arial"/>
                <a:cs typeface="Arial"/>
                <a:sym typeface="Arial"/>
              </a:rPr>
              <a:t>)</a:t>
            </a:r>
            <a:endParaRPr/>
          </a:p>
          <a:p>
            <a:pPr indent="0" lvl="0" marL="0" marR="0" rtl="0" algn="l">
              <a:spcBef>
                <a:spcPts val="0"/>
              </a:spcBef>
              <a:spcAft>
                <a:spcPts val="0"/>
              </a:spcAft>
              <a:buNone/>
            </a:pPr>
            <a:r>
              <a:rPr lang="en-AU" sz="2800">
                <a:solidFill>
                  <a:schemeClr val="dk1"/>
                </a:solidFill>
              </a:rPr>
              <a:t>Aman Sharma</a:t>
            </a:r>
            <a:r>
              <a:rPr b="0" i="0" lang="en-AU" sz="2800" u="none" cap="none" strike="noStrike">
                <a:solidFill>
                  <a:schemeClr val="dk1"/>
                </a:solidFill>
                <a:latin typeface="Arial"/>
                <a:ea typeface="Arial"/>
                <a:cs typeface="Arial"/>
                <a:sym typeface="Arial"/>
              </a:rPr>
              <a:t> (</a:t>
            </a:r>
            <a:r>
              <a:rPr lang="en-AU" sz="2800">
                <a:solidFill>
                  <a:schemeClr val="dk1"/>
                </a:solidFill>
              </a:rPr>
              <a:t>z5492132</a:t>
            </a:r>
            <a:r>
              <a:rPr b="0" i="0" lang="en-AU" sz="2800" u="none" cap="none" strike="noStrike">
                <a:solidFill>
                  <a:schemeClr val="dk1"/>
                </a:solidFill>
                <a:latin typeface="Arial"/>
                <a:ea typeface="Arial"/>
                <a:cs typeface="Arial"/>
                <a:sym typeface="Arial"/>
              </a:rPr>
              <a:t>)</a:t>
            </a:r>
            <a:endParaRPr/>
          </a:p>
          <a:p>
            <a:pPr indent="0" lvl="0" marL="0" marR="0" rtl="0" algn="l">
              <a:spcBef>
                <a:spcPts val="0"/>
              </a:spcBef>
              <a:spcAft>
                <a:spcPts val="0"/>
              </a:spcAft>
              <a:buNone/>
            </a:pPr>
            <a:r>
              <a:rPr lang="en-AU" sz="2800">
                <a:solidFill>
                  <a:schemeClr val="dk1"/>
                </a:solidFill>
              </a:rPr>
              <a:t>Gavin Zhang</a:t>
            </a:r>
            <a:r>
              <a:rPr b="0" i="0" lang="en-AU" sz="2800" u="none" cap="none" strike="noStrike">
                <a:solidFill>
                  <a:schemeClr val="dk1"/>
                </a:solidFill>
                <a:latin typeface="Arial"/>
                <a:ea typeface="Arial"/>
                <a:cs typeface="Arial"/>
                <a:sym typeface="Arial"/>
              </a:rPr>
              <a:t> (</a:t>
            </a:r>
            <a:r>
              <a:rPr lang="en-AU" sz="2800">
                <a:solidFill>
                  <a:schemeClr val="dk1"/>
                </a:solidFill>
              </a:rPr>
              <a:t>z5216570</a:t>
            </a:r>
            <a:r>
              <a:rPr b="0" i="0" lang="en-AU" sz="2800" u="none" cap="none" strike="noStrike">
                <a:solidFill>
                  <a:schemeClr val="dk1"/>
                </a:solidFill>
                <a:latin typeface="Arial"/>
                <a:ea typeface="Arial"/>
                <a:cs typeface="Arial"/>
                <a:sym typeface="Arial"/>
              </a:rPr>
              <a:t>)</a:t>
            </a:r>
            <a:endParaRPr/>
          </a:p>
          <a:p>
            <a:pPr indent="0" lvl="0" marL="0" marR="0" rtl="0" algn="l">
              <a:spcBef>
                <a:spcPts val="0"/>
              </a:spcBef>
              <a:spcAft>
                <a:spcPts val="0"/>
              </a:spcAft>
              <a:buNone/>
            </a:pPr>
            <a:r>
              <a:rPr lang="en-AU" sz="2800">
                <a:solidFill>
                  <a:srgbClr val="1F1F1F"/>
                </a:solidFill>
              </a:rPr>
              <a:t>Kiattechin</a:t>
            </a:r>
            <a:r>
              <a:rPr b="0" i="0" lang="en-AU" sz="2800" u="none" cap="none" strike="noStrike">
                <a:solidFill>
                  <a:schemeClr val="dk1"/>
                </a:solidFill>
                <a:latin typeface="Arial"/>
                <a:ea typeface="Arial"/>
                <a:cs typeface="Arial"/>
                <a:sym typeface="Arial"/>
              </a:rPr>
              <a:t> (z</a:t>
            </a:r>
            <a:r>
              <a:rPr lang="en-AU" sz="2800">
                <a:solidFill>
                  <a:schemeClr val="dk1"/>
                </a:solidFill>
              </a:rPr>
              <a:t>5516202</a:t>
            </a:r>
            <a:r>
              <a:rPr b="0" i="0" lang="en-AU" sz="2800" u="none" cap="none" strike="noStrike">
                <a:solidFill>
                  <a:schemeClr val="dk1"/>
                </a:solidFill>
                <a:latin typeface="Arial"/>
                <a:ea typeface="Arial"/>
                <a:cs typeface="Arial"/>
                <a:sym typeface="Arial"/>
              </a:rPr>
              <a:t>)</a:t>
            </a:r>
            <a:endParaRPr/>
          </a:p>
        </p:txBody>
      </p:sp>
      <p:pic>
        <p:nvPicPr>
          <p:cNvPr id="102" name="Google Shape;102;p15"/>
          <p:cNvPicPr preferRelativeResize="0"/>
          <p:nvPr/>
        </p:nvPicPr>
        <p:blipFill>
          <a:blip r:embed="rId3">
            <a:alphaModFix/>
          </a:blip>
          <a:stretch>
            <a:fillRect/>
          </a:stretch>
        </p:blipFill>
        <p:spPr>
          <a:xfrm>
            <a:off x="6702450" y="152400"/>
            <a:ext cx="4445000" cy="2534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nvSpPr>
        <p:spPr>
          <a:xfrm>
            <a:off x="6190750" y="1306850"/>
            <a:ext cx="5331000" cy="3247500"/>
          </a:xfrm>
          <a:prstGeom prst="rect">
            <a:avLst/>
          </a:prstGeom>
          <a:noFill/>
          <a:ln>
            <a:noFill/>
          </a:ln>
        </p:spPr>
        <p:txBody>
          <a:bodyPr anchorCtr="0" anchor="t" bIns="91425" lIns="91425" spcFirstLastPara="1" rIns="91425" wrap="square" tIns="91425">
            <a:noAutofit/>
          </a:bodyPr>
          <a:lstStyle/>
          <a:p>
            <a:pPr indent="-406400" lvl="0" marL="457200" rtl="0" algn="l">
              <a:lnSpc>
                <a:spcPct val="200000"/>
              </a:lnSpc>
              <a:spcBef>
                <a:spcPts val="0"/>
              </a:spcBef>
              <a:spcAft>
                <a:spcPts val="0"/>
              </a:spcAft>
              <a:buClr>
                <a:schemeClr val="dk1"/>
              </a:buClr>
              <a:buSzPts val="2800"/>
              <a:buFont typeface="Calibri"/>
              <a:buAutoNum type="arabicPeriod"/>
            </a:pPr>
            <a:r>
              <a:rPr lang="en-AU" sz="2800">
                <a:solidFill>
                  <a:schemeClr val="dk1"/>
                </a:solidFill>
                <a:latin typeface="Calibri"/>
                <a:ea typeface="Calibri"/>
                <a:cs typeface="Calibri"/>
                <a:sym typeface="Calibri"/>
              </a:rPr>
              <a:t>Introduction</a:t>
            </a:r>
            <a:endParaRPr sz="2800">
              <a:solidFill>
                <a:schemeClr val="dk1"/>
              </a:solidFill>
              <a:latin typeface="Calibri"/>
              <a:ea typeface="Calibri"/>
              <a:cs typeface="Calibri"/>
              <a:sym typeface="Calibri"/>
            </a:endParaRPr>
          </a:p>
          <a:p>
            <a:pPr indent="-406400" lvl="0" marL="457200" rtl="0" algn="l">
              <a:lnSpc>
                <a:spcPct val="200000"/>
              </a:lnSpc>
              <a:spcBef>
                <a:spcPts val="0"/>
              </a:spcBef>
              <a:spcAft>
                <a:spcPts val="0"/>
              </a:spcAft>
              <a:buClr>
                <a:schemeClr val="dk1"/>
              </a:buClr>
              <a:buSzPts val="2800"/>
              <a:buFont typeface="Calibri"/>
              <a:buAutoNum type="arabicPeriod"/>
            </a:pPr>
            <a:r>
              <a:rPr lang="en-AU" sz="2800">
                <a:solidFill>
                  <a:schemeClr val="dk1"/>
                </a:solidFill>
                <a:latin typeface="Calibri"/>
                <a:ea typeface="Calibri"/>
                <a:cs typeface="Calibri"/>
                <a:sym typeface="Calibri"/>
              </a:rPr>
              <a:t>Dataset</a:t>
            </a:r>
            <a:endParaRPr sz="2800">
              <a:solidFill>
                <a:schemeClr val="dk1"/>
              </a:solidFill>
              <a:latin typeface="Calibri"/>
              <a:ea typeface="Calibri"/>
              <a:cs typeface="Calibri"/>
              <a:sym typeface="Calibri"/>
            </a:endParaRPr>
          </a:p>
          <a:p>
            <a:pPr indent="-406400" lvl="0" marL="457200" rtl="0" algn="l">
              <a:lnSpc>
                <a:spcPct val="200000"/>
              </a:lnSpc>
              <a:spcBef>
                <a:spcPts val="0"/>
              </a:spcBef>
              <a:spcAft>
                <a:spcPts val="0"/>
              </a:spcAft>
              <a:buClr>
                <a:schemeClr val="dk1"/>
              </a:buClr>
              <a:buSzPts val="2800"/>
              <a:buFont typeface="Calibri"/>
              <a:buAutoNum type="arabicPeriod"/>
            </a:pPr>
            <a:r>
              <a:rPr lang="en-AU" sz="2800">
                <a:solidFill>
                  <a:schemeClr val="dk1"/>
                </a:solidFill>
                <a:latin typeface="Calibri"/>
                <a:ea typeface="Calibri"/>
                <a:cs typeface="Calibri"/>
                <a:sym typeface="Calibri"/>
              </a:rPr>
              <a:t>Methodology</a:t>
            </a:r>
            <a:endParaRPr sz="2800">
              <a:solidFill>
                <a:schemeClr val="dk1"/>
              </a:solidFill>
              <a:latin typeface="Calibri"/>
              <a:ea typeface="Calibri"/>
              <a:cs typeface="Calibri"/>
              <a:sym typeface="Calibri"/>
            </a:endParaRPr>
          </a:p>
          <a:p>
            <a:pPr indent="-406400" lvl="0" marL="457200" rtl="0" algn="l">
              <a:lnSpc>
                <a:spcPct val="200000"/>
              </a:lnSpc>
              <a:spcBef>
                <a:spcPts val="0"/>
              </a:spcBef>
              <a:spcAft>
                <a:spcPts val="0"/>
              </a:spcAft>
              <a:buClr>
                <a:schemeClr val="dk1"/>
              </a:buClr>
              <a:buSzPts val="2800"/>
              <a:buFont typeface="Calibri"/>
              <a:buAutoNum type="arabicPeriod"/>
            </a:pPr>
            <a:r>
              <a:rPr lang="en-AU" sz="2800">
                <a:solidFill>
                  <a:schemeClr val="dk1"/>
                </a:solidFill>
                <a:latin typeface="Calibri"/>
                <a:ea typeface="Calibri"/>
                <a:cs typeface="Calibri"/>
                <a:sym typeface="Calibri"/>
              </a:rPr>
              <a:t>Results</a:t>
            </a:r>
            <a:endParaRPr sz="2800">
              <a:solidFill>
                <a:schemeClr val="dk1"/>
              </a:solidFill>
              <a:latin typeface="Calibri"/>
              <a:ea typeface="Calibri"/>
              <a:cs typeface="Calibri"/>
              <a:sym typeface="Calibri"/>
            </a:endParaRPr>
          </a:p>
          <a:p>
            <a:pPr indent="-406400" lvl="0" marL="457200" rtl="0" algn="l">
              <a:lnSpc>
                <a:spcPct val="200000"/>
              </a:lnSpc>
              <a:spcBef>
                <a:spcPts val="0"/>
              </a:spcBef>
              <a:spcAft>
                <a:spcPts val="0"/>
              </a:spcAft>
              <a:buClr>
                <a:schemeClr val="dk1"/>
              </a:buClr>
              <a:buSzPts val="2800"/>
              <a:buFont typeface="Calibri"/>
              <a:buAutoNum type="arabicPeriod"/>
            </a:pPr>
            <a:r>
              <a:rPr lang="en-AU" sz="2800">
                <a:solidFill>
                  <a:schemeClr val="dk1"/>
                </a:solidFill>
                <a:latin typeface="Calibri"/>
                <a:ea typeface="Calibri"/>
                <a:cs typeface="Calibri"/>
                <a:sym typeface="Calibri"/>
              </a:rPr>
              <a:t>Next Steps</a:t>
            </a:r>
            <a:endParaRPr sz="2800">
              <a:solidFill>
                <a:schemeClr val="dk1"/>
              </a:solidFill>
              <a:latin typeface="Calibri"/>
              <a:ea typeface="Calibri"/>
              <a:cs typeface="Calibri"/>
              <a:sym typeface="Calibri"/>
            </a:endParaRPr>
          </a:p>
        </p:txBody>
      </p:sp>
      <p:sp>
        <p:nvSpPr>
          <p:cNvPr id="109" name="Google Shape;109;p16"/>
          <p:cNvSpPr txBox="1"/>
          <p:nvPr/>
        </p:nvSpPr>
        <p:spPr>
          <a:xfrm>
            <a:off x="-108347" y="3105751"/>
            <a:ext cx="56226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AU" sz="3600">
                <a:solidFill>
                  <a:schemeClr val="dk1"/>
                </a:solidFill>
              </a:rPr>
              <a:t>Contents</a:t>
            </a:r>
            <a:endParaRPr b="1" i="0" sz="3600" u="none" cap="none" strike="noStrike">
              <a:solidFill>
                <a:schemeClr val="dk1"/>
              </a:solidFill>
              <a:latin typeface="Calibri"/>
              <a:ea typeface="Calibri"/>
              <a:cs typeface="Calibri"/>
              <a:sym typeface="Calibri"/>
            </a:endParaRPr>
          </a:p>
        </p:txBody>
      </p:sp>
      <p:sp>
        <p:nvSpPr>
          <p:cNvPr id="110" name="Google Shape;110;p16"/>
          <p:cNvSpPr txBox="1"/>
          <p:nvPr/>
        </p:nvSpPr>
        <p:spPr>
          <a:xfrm>
            <a:off x="4195743" y="6314820"/>
            <a:ext cx="7326000" cy="2616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AU" sz="1100" u="none" cap="none" strike="noStrike">
                <a:solidFill>
                  <a:schemeClr val="dk1"/>
                </a:solidFill>
                <a:latin typeface="Arial"/>
                <a:ea typeface="Arial"/>
                <a:cs typeface="Arial"/>
                <a:sym typeface="Arial"/>
              </a:rPr>
              <a:t>Presenter: </a:t>
            </a:r>
            <a:r>
              <a:rPr lang="en-AU" sz="1100">
                <a:solidFill>
                  <a:schemeClr val="dk1"/>
                </a:solidFill>
              </a:rPr>
              <a:t>Rasheed Azeez</a:t>
            </a:r>
            <a:r>
              <a:rPr b="0" i="0" lang="en-AU" sz="1100" u="none" cap="none" strike="noStrike">
                <a:solidFill>
                  <a:schemeClr val="dk1"/>
                </a:solidFill>
                <a:latin typeface="Arial"/>
                <a:ea typeface="Arial"/>
                <a:cs typeface="Arial"/>
                <a:sym typeface="Arial"/>
              </a:rPr>
              <a:t> (z</a:t>
            </a:r>
            <a:r>
              <a:rPr lang="en-AU" sz="1100">
                <a:solidFill>
                  <a:schemeClr val="dk1"/>
                </a:solidFill>
              </a:rPr>
              <a:t>5547562</a:t>
            </a:r>
            <a:r>
              <a:rPr b="0" i="0" lang="en-AU" sz="1100" u="none" cap="none" strike="noStrike">
                <a:solidFill>
                  <a:schemeClr val="dk1"/>
                </a:solidFill>
                <a:latin typeface="Arial"/>
                <a:ea typeface="Arial"/>
                <a:cs typeface="Arial"/>
                <a:sym typeface="Arial"/>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Motivation</a:t>
            </a:r>
            <a:endParaRPr/>
          </a:p>
        </p:txBody>
      </p:sp>
      <p:sp>
        <p:nvSpPr>
          <p:cNvPr id="116" name="Google Shape;116;p17"/>
          <p:cNvSpPr txBox="1"/>
          <p:nvPr>
            <p:ph idx="1" type="body"/>
          </p:nvPr>
        </p:nvSpPr>
        <p:spPr>
          <a:xfrm>
            <a:off x="231648" y="975360"/>
            <a:ext cx="11631300" cy="50352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AU" sz="2400"/>
              <a:t>Breast cancer is one of the </a:t>
            </a:r>
            <a:r>
              <a:rPr b="1" lang="en-AU" sz="2400"/>
              <a:t>leading causes of death</a:t>
            </a:r>
            <a:r>
              <a:rPr lang="en-AU" sz="2400"/>
              <a:t> among women worldwide. </a:t>
            </a:r>
            <a:endParaRPr sz="2400"/>
          </a:p>
          <a:p>
            <a:pPr indent="-381000" lvl="0" marL="457200" rtl="0" algn="l">
              <a:lnSpc>
                <a:spcPct val="100000"/>
              </a:lnSpc>
              <a:spcBef>
                <a:spcPts val="0"/>
              </a:spcBef>
              <a:spcAft>
                <a:spcPts val="0"/>
              </a:spcAft>
              <a:buSzPts val="2400"/>
              <a:buChar char="•"/>
            </a:pPr>
            <a:r>
              <a:rPr b="1" lang="en-AU" sz="2400"/>
              <a:t>Early detection</a:t>
            </a:r>
            <a:r>
              <a:rPr lang="en-AU" sz="2400"/>
              <a:t> plays a crucial role in reducing mortality rates and improving patient outcomes. </a:t>
            </a:r>
            <a:endParaRPr sz="2400"/>
          </a:p>
          <a:p>
            <a:pPr indent="-381000" lvl="0" marL="457200" rtl="0" algn="l">
              <a:lnSpc>
                <a:spcPct val="100000"/>
              </a:lnSpc>
              <a:spcBef>
                <a:spcPts val="0"/>
              </a:spcBef>
              <a:spcAft>
                <a:spcPts val="0"/>
              </a:spcAft>
              <a:buSzPts val="2400"/>
              <a:buChar char="•"/>
            </a:pPr>
            <a:r>
              <a:rPr b="1" lang="en-AU" sz="2400"/>
              <a:t>Ultrasound imaging</a:t>
            </a:r>
            <a:r>
              <a:rPr lang="en-AU" sz="2400"/>
              <a:t> is a safe and widely used technique for breast cancer examination and early detection. </a:t>
            </a:r>
            <a:endParaRPr sz="2400"/>
          </a:p>
          <a:p>
            <a:pPr indent="-381000" lvl="0" marL="457200" rtl="0" algn="l">
              <a:lnSpc>
                <a:spcPct val="100000"/>
              </a:lnSpc>
              <a:spcBef>
                <a:spcPts val="0"/>
              </a:spcBef>
              <a:spcAft>
                <a:spcPts val="0"/>
              </a:spcAft>
              <a:buSzPts val="2400"/>
              <a:buChar char="•"/>
            </a:pPr>
            <a:r>
              <a:rPr lang="en-AU" sz="2400"/>
              <a:t>However, the interpretation of ultrasound images can be challenging, even for experienced radiologists, due to the complexity and variability of breast lesions.</a:t>
            </a:r>
            <a:endParaRPr sz="2400"/>
          </a:p>
        </p:txBody>
      </p:sp>
      <p:sp>
        <p:nvSpPr>
          <p:cNvPr id="117" name="Google Shape;117;p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118" name="Google Shape;118;p17"/>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100" u="none" cap="none" strike="noStrike">
                <a:solidFill>
                  <a:schemeClr val="dk1"/>
                </a:solidFill>
                <a:latin typeface="Arial"/>
                <a:ea typeface="Arial"/>
                <a:cs typeface="Arial"/>
                <a:sym typeface="Arial"/>
              </a:rPr>
              <a:t>Presenter: </a:t>
            </a:r>
            <a:r>
              <a:rPr lang="en-AU" sz="1100">
                <a:solidFill>
                  <a:schemeClr val="dk1"/>
                </a:solidFill>
              </a:rPr>
              <a:t>Rasheed Azeez</a:t>
            </a:r>
            <a:r>
              <a:rPr b="0" i="0" lang="en-AU" sz="1100" u="none" cap="none" strike="noStrike">
                <a:solidFill>
                  <a:schemeClr val="dk1"/>
                </a:solidFill>
                <a:latin typeface="Arial"/>
                <a:ea typeface="Arial"/>
                <a:cs typeface="Arial"/>
                <a:sym typeface="Arial"/>
              </a:rPr>
              <a:t> (z</a:t>
            </a:r>
            <a:r>
              <a:rPr lang="en-AU" sz="1100">
                <a:solidFill>
                  <a:schemeClr val="dk1"/>
                </a:solidFill>
              </a:rPr>
              <a:t>5547562</a:t>
            </a:r>
            <a:r>
              <a:rPr b="0" i="0" lang="en-AU" sz="1100" u="none" cap="none" strike="noStrike">
                <a:solidFill>
                  <a:schemeClr val="dk1"/>
                </a:solidFill>
                <a:latin typeface="Arial"/>
                <a:ea typeface="Arial"/>
                <a:cs typeface="Arial"/>
                <a:sym typeface="Arial"/>
              </a:rPr>
              <a:t>)</a:t>
            </a:r>
            <a:endParaRPr/>
          </a:p>
        </p:txBody>
      </p:sp>
      <p:pic>
        <p:nvPicPr>
          <p:cNvPr id="119" name="Google Shape;119;p17"/>
          <p:cNvPicPr preferRelativeResize="0"/>
          <p:nvPr/>
        </p:nvPicPr>
        <p:blipFill>
          <a:blip r:embed="rId3">
            <a:alphaModFix/>
          </a:blip>
          <a:stretch>
            <a:fillRect/>
          </a:stretch>
        </p:blipFill>
        <p:spPr>
          <a:xfrm>
            <a:off x="5114975" y="4106300"/>
            <a:ext cx="5668951" cy="1951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Problem Statement</a:t>
            </a:r>
            <a:endParaRPr/>
          </a:p>
        </p:txBody>
      </p:sp>
      <p:sp>
        <p:nvSpPr>
          <p:cNvPr id="125" name="Google Shape;125;p18"/>
          <p:cNvSpPr txBox="1"/>
          <p:nvPr>
            <p:ph idx="1" type="body"/>
          </p:nvPr>
        </p:nvSpPr>
        <p:spPr>
          <a:xfrm>
            <a:off x="187575" y="975329"/>
            <a:ext cx="11675400" cy="2811600"/>
          </a:xfrm>
          <a:prstGeom prst="rect">
            <a:avLst/>
          </a:prstGeom>
          <a:noFill/>
          <a:ln>
            <a:noFill/>
          </a:ln>
        </p:spPr>
        <p:txBody>
          <a:bodyPr anchorCtr="0" anchor="t" bIns="45700" lIns="91425" spcFirstLastPara="1" rIns="91425" wrap="square" tIns="45700">
            <a:normAutofit/>
          </a:bodyPr>
          <a:lstStyle/>
          <a:p>
            <a:pPr indent="-381000" lvl="0" marL="457200" rtl="0" algn="l">
              <a:spcBef>
                <a:spcPts val="0"/>
              </a:spcBef>
              <a:spcAft>
                <a:spcPts val="0"/>
              </a:spcAft>
              <a:buSzPts val="2400"/>
              <a:buChar char="•"/>
            </a:pPr>
            <a:r>
              <a:rPr lang="en-AU" sz="2400"/>
              <a:t>Our goal is to develop a deep learning-based system for accurate</a:t>
            </a:r>
            <a:endParaRPr sz="2400"/>
          </a:p>
          <a:p>
            <a:pPr indent="-381000" lvl="1" marL="914400" rtl="0" algn="l">
              <a:spcBef>
                <a:spcPts val="0"/>
              </a:spcBef>
              <a:spcAft>
                <a:spcPts val="0"/>
              </a:spcAft>
              <a:buSzPts val="2400"/>
              <a:buChar char="•"/>
            </a:pPr>
            <a:r>
              <a:rPr lang="en-AU"/>
              <a:t>classification and </a:t>
            </a:r>
            <a:endParaRPr/>
          </a:p>
          <a:p>
            <a:pPr indent="-381000" lvl="1" marL="914400" rtl="0" algn="l">
              <a:spcBef>
                <a:spcPts val="0"/>
              </a:spcBef>
              <a:spcAft>
                <a:spcPts val="0"/>
              </a:spcAft>
              <a:buSzPts val="2400"/>
              <a:buChar char="•"/>
            </a:pPr>
            <a:r>
              <a:rPr lang="en-AU"/>
              <a:t>segmentation of breast masses in ultrasound images. </a:t>
            </a:r>
            <a:endParaRPr/>
          </a:p>
          <a:p>
            <a:pPr indent="-381000" lvl="0" marL="457200" rtl="0" algn="l">
              <a:spcBef>
                <a:spcPts val="0"/>
              </a:spcBef>
              <a:spcAft>
                <a:spcPts val="0"/>
              </a:spcAft>
              <a:buSzPts val="2400"/>
              <a:buChar char="•"/>
            </a:pPr>
            <a:r>
              <a:rPr lang="en-AU" sz="2400"/>
              <a:t>By leveraging state-of-the-art deep learning techniques and a comprehensive dataset of breast ultrasound images, we aims to assist radiologists in </a:t>
            </a:r>
            <a:endParaRPr sz="2400"/>
          </a:p>
          <a:p>
            <a:pPr indent="-381000" lvl="1" marL="914400" rtl="0" algn="l">
              <a:spcBef>
                <a:spcPts val="0"/>
              </a:spcBef>
              <a:spcAft>
                <a:spcPts val="0"/>
              </a:spcAft>
              <a:buSzPts val="2400"/>
              <a:buChar char="•"/>
            </a:pPr>
            <a:r>
              <a:rPr lang="en-AU"/>
              <a:t>the early detection and diagnosis of breast cancer, </a:t>
            </a:r>
            <a:endParaRPr/>
          </a:p>
          <a:p>
            <a:pPr indent="-381000" lvl="1" marL="914400" rtl="0" algn="l">
              <a:spcBef>
                <a:spcPts val="0"/>
              </a:spcBef>
              <a:spcAft>
                <a:spcPts val="0"/>
              </a:spcAft>
              <a:buSzPts val="2400"/>
              <a:buChar char="•"/>
            </a:pPr>
            <a:r>
              <a:rPr lang="en-AU"/>
              <a:t>potentially improving the efficiency and accuracy of the screening process. </a:t>
            </a:r>
            <a:endParaRPr/>
          </a:p>
        </p:txBody>
      </p:sp>
      <p:sp>
        <p:nvSpPr>
          <p:cNvPr id="126" name="Google Shape;126;p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pic>
        <p:nvPicPr>
          <p:cNvPr id="127" name="Google Shape;127;p18"/>
          <p:cNvPicPr preferRelativeResize="0"/>
          <p:nvPr/>
        </p:nvPicPr>
        <p:blipFill>
          <a:blip r:embed="rId3">
            <a:alphaModFix/>
          </a:blip>
          <a:stretch>
            <a:fillRect/>
          </a:stretch>
        </p:blipFill>
        <p:spPr>
          <a:xfrm>
            <a:off x="2676513" y="3426733"/>
            <a:ext cx="6524625" cy="2628900"/>
          </a:xfrm>
          <a:prstGeom prst="rect">
            <a:avLst/>
          </a:prstGeom>
          <a:noFill/>
          <a:ln>
            <a:noFill/>
          </a:ln>
        </p:spPr>
      </p:pic>
      <p:sp>
        <p:nvSpPr>
          <p:cNvPr id="128" name="Google Shape;128;p18"/>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100" u="none" cap="none" strike="noStrike">
                <a:solidFill>
                  <a:schemeClr val="dk1"/>
                </a:solidFill>
                <a:latin typeface="Arial"/>
                <a:ea typeface="Arial"/>
                <a:cs typeface="Arial"/>
                <a:sym typeface="Arial"/>
              </a:rPr>
              <a:t>Presenter: </a:t>
            </a:r>
            <a:r>
              <a:rPr lang="en-AU" sz="1100">
                <a:solidFill>
                  <a:schemeClr val="dk1"/>
                </a:solidFill>
              </a:rPr>
              <a:t>Rasheed Azeez</a:t>
            </a:r>
            <a:r>
              <a:rPr b="0" i="0" lang="en-AU" sz="1100" u="none" cap="none" strike="noStrike">
                <a:solidFill>
                  <a:schemeClr val="dk1"/>
                </a:solidFill>
                <a:latin typeface="Arial"/>
                <a:ea typeface="Arial"/>
                <a:cs typeface="Arial"/>
                <a:sym typeface="Arial"/>
              </a:rPr>
              <a:t> (z</a:t>
            </a:r>
            <a:r>
              <a:rPr lang="en-AU" sz="1100">
                <a:solidFill>
                  <a:schemeClr val="dk1"/>
                </a:solidFill>
              </a:rPr>
              <a:t>5547562</a:t>
            </a:r>
            <a:r>
              <a:rPr b="0" i="0" lang="en-AU" sz="1100" u="none" cap="none" strike="noStrike">
                <a:solidFill>
                  <a:schemeClr val="dk1"/>
                </a:solidFill>
                <a:latin typeface="Arial"/>
                <a:ea typeface="Arial"/>
                <a:cs typeface="Arial"/>
                <a:sym typeface="Arial"/>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231648" y="136525"/>
            <a:ext cx="11631168" cy="83883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Dataset</a:t>
            </a:r>
            <a:endParaRPr/>
          </a:p>
        </p:txBody>
      </p:sp>
      <p:sp>
        <p:nvSpPr>
          <p:cNvPr id="134" name="Google Shape;134;p19"/>
          <p:cNvSpPr txBox="1"/>
          <p:nvPr>
            <p:ph idx="1" type="body"/>
          </p:nvPr>
        </p:nvSpPr>
        <p:spPr>
          <a:xfrm>
            <a:off x="231588" y="1698001"/>
            <a:ext cx="11631300" cy="38049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Char char="•"/>
            </a:pPr>
            <a:r>
              <a:rPr b="1" lang="en-AU" sz="1800"/>
              <a:t>Source</a:t>
            </a:r>
            <a:endParaRPr b="1" sz="1800"/>
          </a:p>
          <a:p>
            <a:pPr indent="-342900" lvl="1" marL="914400" rtl="0" algn="l">
              <a:lnSpc>
                <a:spcPct val="90000"/>
              </a:lnSpc>
              <a:spcBef>
                <a:spcPts val="0"/>
              </a:spcBef>
              <a:spcAft>
                <a:spcPts val="0"/>
              </a:spcAft>
              <a:buSzPts val="1800"/>
              <a:buChar char="•"/>
            </a:pPr>
            <a:r>
              <a:rPr lang="en-AU" sz="1800"/>
              <a:t>HuggingFace</a:t>
            </a:r>
            <a:endParaRPr sz="1800"/>
          </a:p>
          <a:p>
            <a:pPr indent="-342900" lvl="1" marL="914400" rtl="0" algn="l">
              <a:lnSpc>
                <a:spcPct val="90000"/>
              </a:lnSpc>
              <a:spcBef>
                <a:spcPts val="0"/>
              </a:spcBef>
              <a:spcAft>
                <a:spcPts val="0"/>
              </a:spcAft>
              <a:buSzPts val="1800"/>
              <a:buChar char="•"/>
            </a:pPr>
            <a:r>
              <a:rPr lang="en-AU" sz="1800"/>
              <a:t>Kaggle</a:t>
            </a:r>
            <a:endParaRPr sz="1800"/>
          </a:p>
          <a:p>
            <a:pPr indent="0" lvl="0" marL="0" rtl="0" algn="l">
              <a:lnSpc>
                <a:spcPct val="90000"/>
              </a:lnSpc>
              <a:spcBef>
                <a:spcPts val="0"/>
              </a:spcBef>
              <a:spcAft>
                <a:spcPts val="0"/>
              </a:spcAft>
              <a:buNone/>
            </a:pPr>
            <a:r>
              <a:t/>
            </a:r>
            <a:endParaRPr sz="1800"/>
          </a:p>
          <a:p>
            <a:pPr indent="-342900" lvl="0" marL="457200" rtl="0" algn="l">
              <a:lnSpc>
                <a:spcPct val="90000"/>
              </a:lnSpc>
              <a:spcBef>
                <a:spcPts val="0"/>
              </a:spcBef>
              <a:spcAft>
                <a:spcPts val="0"/>
              </a:spcAft>
              <a:buSzPts val="1800"/>
              <a:buChar char="•"/>
            </a:pPr>
            <a:r>
              <a:rPr b="1" lang="en-AU" sz="1800"/>
              <a:t>Discussed in</a:t>
            </a:r>
            <a:endParaRPr b="1" sz="1800"/>
          </a:p>
          <a:p>
            <a:pPr indent="-342900" lvl="1" marL="914400" rtl="0" algn="l">
              <a:spcBef>
                <a:spcPts val="0"/>
              </a:spcBef>
              <a:spcAft>
                <a:spcPts val="0"/>
              </a:spcAft>
              <a:buSzPts val="1800"/>
              <a:buChar char="•"/>
            </a:pPr>
            <a:r>
              <a:rPr lang="en-AU" sz="1800"/>
              <a:t>Paper name: Al-Dhabyani, W., Gomaa, M., Khaled, H., &amp; Fahmy, A. (2020). Dataset of breast ultrasound images. Data in Brief, 28, 104863.</a:t>
            </a:r>
            <a:endParaRPr sz="1800"/>
          </a:p>
          <a:p>
            <a:pPr indent="-342900" lvl="1" marL="914400" rtl="0" algn="l">
              <a:spcBef>
                <a:spcPts val="0"/>
              </a:spcBef>
              <a:spcAft>
                <a:spcPts val="0"/>
              </a:spcAft>
              <a:buSzPts val="1800"/>
              <a:buChar char="•"/>
            </a:pPr>
            <a:r>
              <a:rPr lang="en-AU" sz="1800" u="sng">
                <a:solidFill>
                  <a:schemeClr val="hlink"/>
                </a:solidFill>
                <a:hlinkClick r:id="rId3"/>
              </a:rPr>
              <a:t>https://www.sciencedirect.com/science/article/pii/S2352340919312181</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Char char="•"/>
            </a:pPr>
            <a:r>
              <a:rPr b="1" lang="en-AU" sz="1800"/>
              <a:t>Content</a:t>
            </a:r>
            <a:endParaRPr b="1" sz="1800"/>
          </a:p>
          <a:p>
            <a:pPr indent="-342900" lvl="1" marL="914400" rtl="0" algn="l">
              <a:spcBef>
                <a:spcPts val="0"/>
              </a:spcBef>
              <a:spcAft>
                <a:spcPts val="0"/>
              </a:spcAft>
              <a:buSzPts val="1800"/>
              <a:buChar char="•"/>
            </a:pPr>
            <a:r>
              <a:rPr lang="en-AU" sz="1800"/>
              <a:t>The paper provides a critical evaluation of the breast ultrasound dataset by W. The paper is widely cited. </a:t>
            </a:r>
            <a:endParaRPr sz="1800"/>
          </a:p>
          <a:p>
            <a:pPr indent="-342900" lvl="1" marL="914400" rtl="0" algn="l">
              <a:spcBef>
                <a:spcPts val="0"/>
              </a:spcBef>
              <a:spcAft>
                <a:spcPts val="0"/>
              </a:spcAft>
              <a:buSzPts val="1800"/>
              <a:buChar char="•"/>
            </a:pPr>
            <a:r>
              <a:rPr lang="en-AU" sz="1800"/>
              <a:t>The dataset contains breast ultrasound images with binary masks highlighting lesions.</a:t>
            </a:r>
            <a:endParaRPr sz="1800"/>
          </a:p>
        </p:txBody>
      </p:sp>
      <p:sp>
        <p:nvSpPr>
          <p:cNvPr id="135" name="Google Shape;13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136" name="Google Shape;136;p19"/>
          <p:cNvSpPr txBox="1"/>
          <p:nvPr/>
        </p:nvSpPr>
        <p:spPr>
          <a:xfrm>
            <a:off x="231650" y="825850"/>
            <a:ext cx="11221800" cy="6084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AU" sz="2100">
                <a:solidFill>
                  <a:schemeClr val="dk1"/>
                </a:solidFill>
              </a:rPr>
              <a:t>Breast Cancer Ultrasound Images Dataset</a:t>
            </a:r>
            <a:endParaRPr b="1" sz="2100">
              <a:solidFill>
                <a:schemeClr val="dk1"/>
              </a:solidFill>
            </a:endParaRPr>
          </a:p>
          <a:p>
            <a:pPr indent="0" lvl="0" marL="0" rtl="0" algn="l">
              <a:lnSpc>
                <a:spcPct val="90000"/>
              </a:lnSpc>
              <a:spcBef>
                <a:spcPts val="0"/>
              </a:spcBef>
              <a:spcAft>
                <a:spcPts val="0"/>
              </a:spcAft>
              <a:buNone/>
            </a:pPr>
            <a:r>
              <a:rPr lang="en-AU" sz="1500" u="sng">
                <a:solidFill>
                  <a:schemeClr val="hlink"/>
                </a:solidFill>
                <a:hlinkClick r:id="rId4"/>
              </a:rPr>
              <a:t>https://huggingface.co/datasets/gymprathap/Breast-Cancer-Ultrasound-Images-Dataset</a:t>
            </a:r>
            <a:r>
              <a:rPr lang="en-AU" sz="1500">
                <a:solidFill>
                  <a:schemeClr val="dk1"/>
                </a:solidFill>
              </a:rPr>
              <a:t> </a:t>
            </a:r>
            <a:endParaRPr sz="3000">
              <a:solidFill>
                <a:schemeClr val="dk1"/>
              </a:solidFill>
              <a:latin typeface="Calibri"/>
              <a:ea typeface="Calibri"/>
              <a:cs typeface="Calibri"/>
              <a:sym typeface="Calibri"/>
            </a:endParaRPr>
          </a:p>
        </p:txBody>
      </p:sp>
      <p:sp>
        <p:nvSpPr>
          <p:cNvPr id="137" name="Google Shape;137;p19"/>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100" u="none" cap="none" strike="noStrike">
                <a:solidFill>
                  <a:schemeClr val="dk1"/>
                </a:solidFill>
                <a:latin typeface="Arial"/>
                <a:ea typeface="Arial"/>
                <a:cs typeface="Arial"/>
                <a:sym typeface="Arial"/>
              </a:rPr>
              <a:t>Presenter: </a:t>
            </a:r>
            <a:r>
              <a:rPr lang="en-AU" sz="1100">
                <a:solidFill>
                  <a:schemeClr val="dk1"/>
                </a:solidFill>
              </a:rPr>
              <a:t>Rasheed Azeez</a:t>
            </a:r>
            <a:r>
              <a:rPr b="0" i="0" lang="en-AU" sz="1100" u="none" cap="none" strike="noStrike">
                <a:solidFill>
                  <a:schemeClr val="dk1"/>
                </a:solidFill>
                <a:latin typeface="Arial"/>
                <a:ea typeface="Arial"/>
                <a:cs typeface="Arial"/>
                <a:sym typeface="Arial"/>
              </a:rPr>
              <a:t> (z</a:t>
            </a:r>
            <a:r>
              <a:rPr lang="en-AU" sz="1100">
                <a:solidFill>
                  <a:schemeClr val="dk1"/>
                </a:solidFill>
              </a:rPr>
              <a:t>5547562</a:t>
            </a:r>
            <a:r>
              <a:rPr b="0" i="0" lang="en-AU" sz="1100" u="none" cap="none" strike="noStrike">
                <a:solidFill>
                  <a:schemeClr val="dk1"/>
                </a:solidFill>
                <a:latin typeface="Arial"/>
                <a:ea typeface="Arial"/>
                <a:cs typeface="Arial"/>
                <a:sym typeface="Arial"/>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0"/>
          <p:cNvSpPr txBox="1"/>
          <p:nvPr>
            <p:ph idx="1" type="body"/>
          </p:nvPr>
        </p:nvSpPr>
        <p:spPr>
          <a:xfrm>
            <a:off x="231648" y="975360"/>
            <a:ext cx="11631168" cy="5035296"/>
          </a:xfrm>
          <a:prstGeom prst="rect">
            <a:avLst/>
          </a:prstGeom>
          <a:noFill/>
          <a:ln>
            <a:noFill/>
          </a:ln>
        </p:spPr>
        <p:txBody>
          <a:bodyPr anchorCtr="0" anchor="t" bIns="45700" lIns="91425" spcFirstLastPara="1" rIns="91425" wrap="square" tIns="45700">
            <a:normAutofit/>
          </a:bodyPr>
          <a:lstStyle/>
          <a:p>
            <a:pPr indent="-406400" lvl="0" marL="457200" rtl="0" algn="l">
              <a:spcBef>
                <a:spcPts val="0"/>
              </a:spcBef>
              <a:spcAft>
                <a:spcPts val="0"/>
              </a:spcAft>
              <a:buSzPts val="2800"/>
              <a:buChar char="•"/>
            </a:pPr>
            <a:r>
              <a:rPr lang="en-AU"/>
              <a:t>Data </a:t>
            </a:r>
            <a:r>
              <a:rPr lang="en-AU"/>
              <a:t>Format</a:t>
            </a:r>
            <a:endParaRPr/>
          </a:p>
          <a:p>
            <a:pPr indent="-381000" lvl="1" marL="914400" rtl="0" algn="l">
              <a:spcBef>
                <a:spcPts val="0"/>
              </a:spcBef>
              <a:spcAft>
                <a:spcPts val="0"/>
              </a:spcAft>
              <a:buSzPts val="2400"/>
              <a:buChar char="•"/>
            </a:pPr>
            <a:r>
              <a:rPr lang="en-AU"/>
              <a:t>Ultrasound images</a:t>
            </a:r>
            <a:endParaRPr/>
          </a:p>
          <a:p>
            <a:pPr indent="-381000" lvl="1" marL="914400" rtl="0" algn="l">
              <a:spcBef>
                <a:spcPts val="0"/>
              </a:spcBef>
              <a:spcAft>
                <a:spcPts val="0"/>
              </a:spcAft>
              <a:buSzPts val="2400"/>
              <a:buChar char="•"/>
            </a:pPr>
            <a:r>
              <a:rPr lang="en-AU"/>
              <a:t>Segmentation masks per image</a:t>
            </a:r>
            <a:endParaRPr/>
          </a:p>
          <a:p>
            <a:pPr indent="-381000" lvl="1" marL="914400" rtl="0" algn="l">
              <a:spcBef>
                <a:spcPts val="0"/>
              </a:spcBef>
              <a:spcAft>
                <a:spcPts val="0"/>
              </a:spcAft>
              <a:buSzPts val="2400"/>
              <a:buChar char="•"/>
            </a:pPr>
            <a:r>
              <a:rPr lang="en-AU"/>
              <a:t>Text classification label per image</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AU"/>
              <a:t>780 image</a:t>
            </a:r>
            <a:r>
              <a:rPr lang="en-AU"/>
              <a:t> samples </a:t>
            </a:r>
            <a:endParaRPr/>
          </a:p>
          <a:p>
            <a:pPr indent="-381000" lvl="1" marL="914400" rtl="0" algn="l">
              <a:spcBef>
                <a:spcPts val="0"/>
              </a:spcBef>
              <a:spcAft>
                <a:spcPts val="0"/>
              </a:spcAft>
              <a:buSzPts val="2400"/>
              <a:buChar char="•"/>
            </a:pPr>
            <a:r>
              <a:rPr lang="en-AU"/>
              <a:t>600 female patients</a:t>
            </a:r>
            <a:endParaRPr/>
          </a:p>
        </p:txBody>
      </p:sp>
      <p:sp>
        <p:nvSpPr>
          <p:cNvPr id="143" name="Google Shape;143;p20"/>
          <p:cNvSpPr txBox="1"/>
          <p:nvPr>
            <p:ph type="title"/>
          </p:nvPr>
        </p:nvSpPr>
        <p:spPr>
          <a:xfrm>
            <a:off x="231648" y="136525"/>
            <a:ext cx="11631168" cy="83883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Data Analysis</a:t>
            </a:r>
            <a:endParaRPr/>
          </a:p>
        </p:txBody>
      </p:sp>
      <p:sp>
        <p:nvSpPr>
          <p:cNvPr id="144" name="Google Shape;14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pic>
        <p:nvPicPr>
          <p:cNvPr id="145" name="Google Shape;145;p20"/>
          <p:cNvPicPr preferRelativeResize="0"/>
          <p:nvPr/>
        </p:nvPicPr>
        <p:blipFill>
          <a:blip r:embed="rId4">
            <a:alphaModFix/>
          </a:blip>
          <a:stretch>
            <a:fillRect/>
          </a:stretch>
        </p:blipFill>
        <p:spPr>
          <a:xfrm>
            <a:off x="5323600" y="2867430"/>
            <a:ext cx="6030200" cy="3234170"/>
          </a:xfrm>
          <a:prstGeom prst="rect">
            <a:avLst/>
          </a:prstGeom>
          <a:noFill/>
          <a:ln>
            <a:noFill/>
          </a:ln>
        </p:spPr>
      </p:pic>
      <p:sp>
        <p:nvSpPr>
          <p:cNvPr id="146" name="Google Shape;146;p20"/>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100" u="none" cap="none" strike="noStrike">
                <a:solidFill>
                  <a:schemeClr val="dk1"/>
                </a:solidFill>
                <a:latin typeface="Arial"/>
                <a:ea typeface="Arial"/>
                <a:cs typeface="Arial"/>
                <a:sym typeface="Arial"/>
              </a:rPr>
              <a:t>Presenter: </a:t>
            </a:r>
            <a:r>
              <a:rPr lang="en-AU" sz="1100">
                <a:solidFill>
                  <a:schemeClr val="dk1"/>
                </a:solidFill>
              </a:rPr>
              <a:t>Rasheed Azeez</a:t>
            </a:r>
            <a:r>
              <a:rPr b="0" i="0" lang="en-AU" sz="1100" u="none" cap="none" strike="noStrike">
                <a:solidFill>
                  <a:schemeClr val="dk1"/>
                </a:solidFill>
                <a:latin typeface="Arial"/>
                <a:ea typeface="Arial"/>
                <a:cs typeface="Arial"/>
                <a:sym typeface="Arial"/>
              </a:rPr>
              <a:t> (z</a:t>
            </a:r>
            <a:r>
              <a:rPr lang="en-AU" sz="1100">
                <a:solidFill>
                  <a:schemeClr val="dk1"/>
                </a:solidFill>
              </a:rPr>
              <a:t>5547562</a:t>
            </a:r>
            <a:r>
              <a:rPr b="0" i="0" lang="en-AU" sz="1100" u="none" cap="none" strike="noStrike">
                <a:solidFill>
                  <a:schemeClr val="dk1"/>
                </a:solidFill>
                <a:latin typeface="Arial"/>
                <a:ea typeface="Arial"/>
                <a:cs typeface="Arial"/>
                <a:sym typeface="Arial"/>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Data Analysis</a:t>
            </a:r>
            <a:endParaRPr/>
          </a:p>
        </p:txBody>
      </p:sp>
      <p:sp>
        <p:nvSpPr>
          <p:cNvPr id="152" name="Google Shape;152;p21"/>
          <p:cNvSpPr txBox="1"/>
          <p:nvPr>
            <p:ph idx="1" type="body"/>
          </p:nvPr>
        </p:nvSpPr>
        <p:spPr>
          <a:xfrm>
            <a:off x="231649" y="975350"/>
            <a:ext cx="7485000" cy="5035200"/>
          </a:xfrm>
          <a:prstGeom prst="rect">
            <a:avLst/>
          </a:prstGeom>
          <a:noFill/>
          <a:ln>
            <a:noFill/>
          </a:ln>
        </p:spPr>
        <p:txBody>
          <a:bodyPr anchorCtr="0" anchor="t" bIns="45700" lIns="91425" spcFirstLastPara="1" rIns="91425" wrap="square" tIns="45700">
            <a:normAutofit/>
          </a:bodyPr>
          <a:lstStyle/>
          <a:p>
            <a:pPr indent="-406400" lvl="0" marL="457200" rtl="0" algn="l">
              <a:spcBef>
                <a:spcPts val="0"/>
              </a:spcBef>
              <a:spcAft>
                <a:spcPts val="0"/>
              </a:spcAft>
              <a:buSzPts val="2800"/>
              <a:buChar char="•"/>
            </a:pPr>
            <a:r>
              <a:rPr lang="en-AU"/>
              <a:t>3 classes, imbalanced</a:t>
            </a:r>
            <a:endParaRPr/>
          </a:p>
          <a:p>
            <a:pPr indent="-381000" lvl="1" marL="914400" rtl="0" algn="l">
              <a:spcBef>
                <a:spcPts val="0"/>
              </a:spcBef>
              <a:spcAft>
                <a:spcPts val="0"/>
              </a:spcAft>
              <a:buSzPts val="2400"/>
              <a:buChar char="•"/>
            </a:pPr>
            <a:r>
              <a:rPr lang="en-AU"/>
              <a:t>Benign: 56.5%</a:t>
            </a:r>
            <a:endParaRPr/>
          </a:p>
          <a:p>
            <a:pPr indent="-381000" lvl="1" marL="914400" rtl="0" algn="l">
              <a:spcBef>
                <a:spcPts val="0"/>
              </a:spcBef>
              <a:spcAft>
                <a:spcPts val="0"/>
              </a:spcAft>
              <a:buSzPts val="2400"/>
              <a:buChar char="•"/>
            </a:pPr>
            <a:r>
              <a:rPr lang="en-AU"/>
              <a:t>Malignant: 26.7%</a:t>
            </a:r>
            <a:endParaRPr/>
          </a:p>
          <a:p>
            <a:pPr indent="-381000" lvl="1" marL="914400" rtl="0" algn="l">
              <a:spcBef>
                <a:spcPts val="0"/>
              </a:spcBef>
              <a:spcAft>
                <a:spcPts val="0"/>
              </a:spcAft>
              <a:buSzPts val="2400"/>
              <a:buChar char="•"/>
            </a:pPr>
            <a:r>
              <a:rPr lang="en-AU"/>
              <a:t>Normal: 16.9%</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AU"/>
              <a:t>Issues</a:t>
            </a:r>
            <a:endParaRPr/>
          </a:p>
          <a:p>
            <a:pPr indent="-381000" lvl="1" marL="914400" rtl="0" algn="l">
              <a:spcBef>
                <a:spcPts val="0"/>
              </a:spcBef>
              <a:spcAft>
                <a:spcPts val="0"/>
              </a:spcAft>
              <a:buSzPts val="2400"/>
              <a:buChar char="•"/>
            </a:pPr>
            <a:r>
              <a:rPr lang="en-AU"/>
              <a:t>Inconsistencies such as duplicates (235 images)</a:t>
            </a:r>
            <a:endParaRPr/>
          </a:p>
          <a:p>
            <a:pPr indent="-381000" lvl="1" marL="914400" rtl="0" algn="l">
              <a:spcBef>
                <a:spcPts val="0"/>
              </a:spcBef>
              <a:spcAft>
                <a:spcPts val="0"/>
              </a:spcAft>
              <a:buSzPts val="2400"/>
              <a:buChar char="•"/>
            </a:pPr>
            <a:r>
              <a:rPr lang="en-AU"/>
              <a:t>Discrepancies in masks, and images with anomalies like foreign objects (e.g. needles). </a:t>
            </a:r>
            <a:endParaRPr/>
          </a:p>
          <a:p>
            <a:pPr indent="-381000" lvl="1" marL="914400" rtl="0" algn="l">
              <a:spcBef>
                <a:spcPts val="0"/>
              </a:spcBef>
              <a:spcAft>
                <a:spcPts val="0"/>
              </a:spcAft>
              <a:buSzPts val="2400"/>
              <a:buChar char="•"/>
            </a:pPr>
            <a:r>
              <a:rPr lang="en-AU"/>
              <a:t>Some images are mislabeled</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Char char="•"/>
            </a:pPr>
            <a:r>
              <a:rPr lang="en-AU"/>
              <a:t>Fix with augmentation and resampling</a:t>
            </a:r>
            <a:endParaRPr/>
          </a:p>
        </p:txBody>
      </p:sp>
      <p:sp>
        <p:nvSpPr>
          <p:cNvPr id="153" name="Google Shape;153;p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pic>
        <p:nvPicPr>
          <p:cNvPr id="154" name="Google Shape;154;p21" title="Points scored"/>
          <p:cNvPicPr preferRelativeResize="0"/>
          <p:nvPr/>
        </p:nvPicPr>
        <p:blipFill>
          <a:blip r:embed="rId3">
            <a:alphaModFix/>
          </a:blip>
          <a:stretch>
            <a:fillRect/>
          </a:stretch>
        </p:blipFill>
        <p:spPr>
          <a:xfrm>
            <a:off x="7716775" y="689625"/>
            <a:ext cx="4146174" cy="5320923"/>
          </a:xfrm>
          <a:prstGeom prst="rect">
            <a:avLst/>
          </a:prstGeom>
          <a:noFill/>
          <a:ln>
            <a:noFill/>
          </a:ln>
        </p:spPr>
      </p:pic>
      <p:sp>
        <p:nvSpPr>
          <p:cNvPr id="155" name="Google Shape;155;p21"/>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100" u="none" cap="none" strike="noStrike">
                <a:solidFill>
                  <a:schemeClr val="dk1"/>
                </a:solidFill>
                <a:latin typeface="Arial"/>
                <a:ea typeface="Arial"/>
                <a:cs typeface="Arial"/>
                <a:sym typeface="Arial"/>
              </a:rPr>
              <a:t>Presenter: </a:t>
            </a:r>
            <a:r>
              <a:rPr lang="en-AU" sz="1100">
                <a:solidFill>
                  <a:schemeClr val="dk1"/>
                </a:solidFill>
              </a:rPr>
              <a:t>Rasheed Azeez</a:t>
            </a:r>
            <a:r>
              <a:rPr b="0" i="0" lang="en-AU" sz="1100" u="none" cap="none" strike="noStrike">
                <a:solidFill>
                  <a:schemeClr val="dk1"/>
                </a:solidFill>
                <a:latin typeface="Arial"/>
                <a:ea typeface="Arial"/>
                <a:cs typeface="Arial"/>
                <a:sym typeface="Arial"/>
              </a:rPr>
              <a:t> (z</a:t>
            </a:r>
            <a:r>
              <a:rPr lang="en-AU" sz="1100">
                <a:solidFill>
                  <a:schemeClr val="dk1"/>
                </a:solidFill>
              </a:rPr>
              <a:t>5547562</a:t>
            </a:r>
            <a:r>
              <a:rPr b="0" i="0" lang="en-AU" sz="1100" u="none" cap="none" strike="noStrike">
                <a:solidFill>
                  <a:schemeClr val="dk1"/>
                </a:solidFill>
                <a:latin typeface="Arial"/>
                <a:ea typeface="Arial"/>
                <a:cs typeface="Arial"/>
                <a:sym typeface="Arial"/>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
        <p:nvSpPr>
          <p:cNvPr id="162" name="Google Shape;162;p22"/>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Literature Review</a:t>
            </a:r>
            <a:endParaRPr/>
          </a:p>
        </p:txBody>
      </p:sp>
      <p:sp>
        <p:nvSpPr>
          <p:cNvPr id="163" name="Google Shape;163;p22"/>
          <p:cNvSpPr txBox="1"/>
          <p:nvPr/>
        </p:nvSpPr>
        <p:spPr>
          <a:xfrm>
            <a:off x="564875" y="883050"/>
            <a:ext cx="6153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2100">
                <a:solidFill>
                  <a:schemeClr val="dk1"/>
                </a:solidFill>
              </a:rPr>
              <a:t>Classification</a:t>
            </a:r>
            <a:endParaRPr b="1" sz="2100">
              <a:solidFill>
                <a:schemeClr val="dk1"/>
              </a:solidFill>
            </a:endParaRPr>
          </a:p>
        </p:txBody>
      </p:sp>
      <p:sp>
        <p:nvSpPr>
          <p:cNvPr id="164" name="Google Shape;164;p22"/>
          <p:cNvSpPr txBox="1"/>
          <p:nvPr/>
        </p:nvSpPr>
        <p:spPr>
          <a:xfrm>
            <a:off x="564875" y="1305500"/>
            <a:ext cx="10874400" cy="53316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chemeClr val="dk1"/>
              </a:buClr>
              <a:buSzPts val="1900"/>
              <a:buChar char="●"/>
            </a:pPr>
            <a:r>
              <a:rPr lang="en-AU" sz="1900">
                <a:solidFill>
                  <a:srgbClr val="1F1F1F"/>
                </a:solidFill>
              </a:rPr>
              <a:t>VGG19 - </a:t>
            </a:r>
            <a:r>
              <a:rPr lang="en-AU" sz="1900">
                <a:solidFill>
                  <a:srgbClr val="1F1F1F"/>
                </a:solidFill>
              </a:rPr>
              <a:t>Breast cancer classification based on convolutional neural network and image fusion approaches using ultrasound images </a:t>
            </a:r>
            <a:endParaRPr sz="1900">
              <a:solidFill>
                <a:srgbClr val="1F1F1F"/>
              </a:solidFill>
            </a:endParaRPr>
          </a:p>
          <a:p>
            <a:pPr indent="0" lvl="0" marL="914400" rtl="0" algn="l">
              <a:spcBef>
                <a:spcPts val="1200"/>
              </a:spcBef>
              <a:spcAft>
                <a:spcPts val="0"/>
              </a:spcAft>
              <a:buNone/>
            </a:pPr>
            <a:r>
              <a:rPr lang="en-AU" sz="1200">
                <a:solidFill>
                  <a:schemeClr val="dk1"/>
                </a:solidFill>
              </a:rPr>
              <a:t>Alotaibi, M., Aljouie, A., Alluhaidan, N., et al. (2023). Breast cancer classification using CNN and image fusion with ultrasound. </a:t>
            </a:r>
            <a:r>
              <a:rPr i="1" lang="en-AU" sz="1200">
                <a:solidFill>
                  <a:schemeClr val="dk1"/>
                </a:solidFill>
              </a:rPr>
              <a:t>Heliyon, 9</a:t>
            </a:r>
            <a:r>
              <a:rPr lang="en-AU" sz="1200">
                <a:solidFill>
                  <a:schemeClr val="dk1"/>
                </a:solidFill>
              </a:rPr>
              <a:t>(11), e22406.</a:t>
            </a:r>
            <a:r>
              <a:rPr lang="en-AU" sz="1200">
                <a:solidFill>
                  <a:schemeClr val="dk1"/>
                </a:solidFill>
                <a:uFill>
                  <a:noFill/>
                </a:uFill>
                <a:hlinkClick r:id="rId3">
                  <a:extLst>
                    <a:ext uri="{A12FA001-AC4F-418D-AE19-62706E023703}">
                      <ahyp:hlinkClr val="tx"/>
                    </a:ext>
                  </a:extLst>
                </a:hlinkClick>
              </a:rPr>
              <a:t> </a:t>
            </a:r>
            <a:r>
              <a:rPr lang="en-AU" sz="1200" u="sng">
                <a:solidFill>
                  <a:schemeClr val="hlink"/>
                </a:solidFill>
                <a:hlinkClick r:id="rId4"/>
              </a:rPr>
              <a:t>https://doi.org/10.1016/j.heliyon.2023.e22406</a:t>
            </a:r>
            <a:endParaRPr sz="1200">
              <a:solidFill>
                <a:schemeClr val="dk1"/>
              </a:solidFill>
            </a:endParaRPr>
          </a:p>
          <a:p>
            <a:pPr indent="0" lvl="0" marL="914400" rtl="0" algn="l">
              <a:spcBef>
                <a:spcPts val="0"/>
              </a:spcBef>
              <a:spcAft>
                <a:spcPts val="0"/>
              </a:spcAft>
              <a:buNone/>
            </a:pPr>
            <a:r>
              <a:t/>
            </a:r>
            <a:endParaRPr sz="1200">
              <a:solidFill>
                <a:schemeClr val="dk1"/>
              </a:solidFill>
            </a:endParaRPr>
          </a:p>
          <a:p>
            <a:pPr indent="-349250" lvl="1" marL="914400" rtl="0" algn="l">
              <a:spcBef>
                <a:spcPts val="0"/>
              </a:spcBef>
              <a:spcAft>
                <a:spcPts val="0"/>
              </a:spcAft>
              <a:buClr>
                <a:srgbClr val="1F1F1F"/>
              </a:buClr>
              <a:buSzPts val="1900"/>
              <a:buChar char="○"/>
            </a:pPr>
            <a:r>
              <a:rPr lang="en-AU" sz="1800">
                <a:solidFill>
                  <a:schemeClr val="dk1"/>
                </a:solidFill>
              </a:rPr>
              <a:t>VGG19 can have good performance for this task</a:t>
            </a:r>
            <a:endParaRPr sz="1800">
              <a:solidFill>
                <a:schemeClr val="dk1"/>
              </a:solidFill>
            </a:endParaRPr>
          </a:p>
          <a:p>
            <a:pPr indent="-342900" lvl="1" marL="914400" rtl="0" algn="l">
              <a:spcBef>
                <a:spcPts val="0"/>
              </a:spcBef>
              <a:spcAft>
                <a:spcPts val="0"/>
              </a:spcAft>
              <a:buClr>
                <a:schemeClr val="dk1"/>
              </a:buClr>
              <a:buSzPts val="1800"/>
              <a:buChar char="○"/>
            </a:pPr>
            <a:r>
              <a:rPr lang="en-AU" sz="1800">
                <a:solidFill>
                  <a:schemeClr val="dk1"/>
                </a:solidFill>
              </a:rPr>
              <a:t>Image preprocessing such as denoising or RGB fusion can help raise accuracy significantly when combining multiple preprocess</a:t>
            </a:r>
            <a:endParaRPr sz="1800">
              <a:solidFill>
                <a:schemeClr val="dk1"/>
              </a:solidFill>
            </a:endParaRPr>
          </a:p>
          <a:p>
            <a:pPr indent="0" lvl="0" marL="914400" rtl="0" algn="l">
              <a:spcBef>
                <a:spcPts val="0"/>
              </a:spcBef>
              <a:spcAft>
                <a:spcPts val="0"/>
              </a:spcAft>
              <a:buNone/>
            </a:pPr>
            <a:r>
              <a:t/>
            </a:r>
            <a:endParaRPr sz="1800">
              <a:solidFill>
                <a:schemeClr val="dk1"/>
              </a:solidFill>
            </a:endParaRPr>
          </a:p>
          <a:p>
            <a:pPr indent="-349250" lvl="0" marL="457200" rtl="0" algn="l">
              <a:lnSpc>
                <a:spcPct val="115000"/>
              </a:lnSpc>
              <a:spcBef>
                <a:spcPts val="1200"/>
              </a:spcBef>
              <a:spcAft>
                <a:spcPts val="0"/>
              </a:spcAft>
              <a:buClr>
                <a:schemeClr val="dk1"/>
              </a:buClr>
              <a:buSzPts val="1900"/>
              <a:buChar char="●"/>
            </a:pPr>
            <a:r>
              <a:rPr lang="en-AU" sz="1900">
                <a:solidFill>
                  <a:srgbClr val="1F1F1F"/>
                </a:solidFill>
              </a:rPr>
              <a:t>Resnet50 </a:t>
            </a:r>
            <a:r>
              <a:rPr lang="en-AU" sz="1900">
                <a:solidFill>
                  <a:srgbClr val="1F1F1F"/>
                </a:solidFill>
              </a:rPr>
              <a:t>- ResNet-50 based deep neural network using transfer learning for brain tumor classification	</a:t>
            </a:r>
            <a:endParaRPr sz="1900">
              <a:solidFill>
                <a:srgbClr val="1F1F1F"/>
              </a:solidFill>
            </a:endParaRPr>
          </a:p>
          <a:p>
            <a:pPr indent="0" lvl="0" marL="914400" rtl="0" algn="l">
              <a:lnSpc>
                <a:spcPct val="115000"/>
              </a:lnSpc>
              <a:spcBef>
                <a:spcPts val="1200"/>
              </a:spcBef>
              <a:spcAft>
                <a:spcPts val="0"/>
              </a:spcAft>
              <a:buNone/>
            </a:pPr>
            <a:r>
              <a:rPr lang="en-AU" sz="1100">
                <a:solidFill>
                  <a:schemeClr val="dk1"/>
                </a:solidFill>
              </a:rPr>
              <a:t>Sahaai, M. B., Jothilakshmi, G. R., Ravikumar, D., Prasath, R., &amp; Singh, S. (2022). ResNet-50 based deep neural network using transfer learning for brain tumor classification. </a:t>
            </a:r>
            <a:r>
              <a:rPr i="1" lang="en-AU" sz="1100">
                <a:solidFill>
                  <a:schemeClr val="dk1"/>
                </a:solidFill>
              </a:rPr>
              <a:t>AIP Conference Proceedings</a:t>
            </a:r>
            <a:r>
              <a:rPr lang="en-AU" sz="1100">
                <a:solidFill>
                  <a:schemeClr val="dk1"/>
                </a:solidFill>
              </a:rPr>
              <a:t>, 2463(1), 020014. </a:t>
            </a:r>
            <a:r>
              <a:rPr lang="en-AU" sz="1100" u="sng">
                <a:solidFill>
                  <a:schemeClr val="hlink"/>
                </a:solidFill>
                <a:hlinkClick r:id="rId5"/>
              </a:rPr>
              <a:t>https://doi.org/10.1063/5.0082328</a:t>
            </a:r>
            <a:endParaRPr sz="1100">
              <a:solidFill>
                <a:schemeClr val="dk1"/>
              </a:solidFill>
            </a:endParaRPr>
          </a:p>
          <a:p>
            <a:pPr indent="-342900" lvl="0" marL="914400" rtl="0" algn="l">
              <a:lnSpc>
                <a:spcPct val="115000"/>
              </a:lnSpc>
              <a:spcBef>
                <a:spcPts val="1200"/>
              </a:spcBef>
              <a:spcAft>
                <a:spcPts val="0"/>
              </a:spcAft>
              <a:buClr>
                <a:schemeClr val="dk1"/>
              </a:buClr>
              <a:buSzPts val="1800"/>
              <a:buChar char="○"/>
            </a:pPr>
            <a:r>
              <a:rPr lang="en-AU" sz="1800">
                <a:solidFill>
                  <a:schemeClr val="dk1"/>
                </a:solidFill>
              </a:rPr>
              <a:t>ResNet50 has residual connections which help train deep networks effectively by mitigating vanishing gradient issues, enabling improved accuracy on complex image datasets.</a:t>
            </a:r>
            <a:endParaRPr sz="1800">
              <a:solidFill>
                <a:schemeClr val="dk1"/>
              </a:solidFill>
            </a:endParaRPr>
          </a:p>
          <a:p>
            <a:pPr indent="0" lvl="0" marL="914400" rtl="0" algn="l">
              <a:lnSpc>
                <a:spcPct val="115000"/>
              </a:lnSpc>
              <a:spcBef>
                <a:spcPts val="1200"/>
              </a:spcBef>
              <a:spcAft>
                <a:spcPts val="1200"/>
              </a:spcAft>
              <a:buNone/>
            </a:pPr>
            <a:r>
              <a:t/>
            </a:r>
            <a:endParaRPr sz="1900">
              <a:solidFill>
                <a:srgbClr val="1F1F1F"/>
              </a:solidFill>
            </a:endParaRPr>
          </a:p>
        </p:txBody>
      </p:sp>
      <p:sp>
        <p:nvSpPr>
          <p:cNvPr id="165" name="Google Shape;165;p22"/>
          <p:cNvSpPr txBox="1"/>
          <p:nvPr/>
        </p:nvSpPr>
        <p:spPr>
          <a:xfrm>
            <a:off x="119743" y="6225545"/>
            <a:ext cx="7326000" cy="265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AU" sz="1100">
                <a:solidFill>
                  <a:schemeClr val="dk1"/>
                </a:solidFill>
              </a:rPr>
              <a:t>Presenter: Kiattechin Rungruengsakorn (z5516202)</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3"/>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
        <p:nvSpPr>
          <p:cNvPr id="172" name="Google Shape;172;p23"/>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Literature Review</a:t>
            </a:r>
            <a:endParaRPr/>
          </a:p>
        </p:txBody>
      </p:sp>
      <p:sp>
        <p:nvSpPr>
          <p:cNvPr id="173" name="Google Shape;173;p23"/>
          <p:cNvSpPr txBox="1"/>
          <p:nvPr/>
        </p:nvSpPr>
        <p:spPr>
          <a:xfrm>
            <a:off x="1093150" y="925775"/>
            <a:ext cx="6153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AU" sz="2100">
                <a:solidFill>
                  <a:schemeClr val="dk1"/>
                </a:solidFill>
              </a:rPr>
              <a:t>Segmentation</a:t>
            </a:r>
            <a:endParaRPr b="1" sz="2100">
              <a:solidFill>
                <a:schemeClr val="dk1"/>
              </a:solidFill>
            </a:endParaRPr>
          </a:p>
        </p:txBody>
      </p:sp>
      <p:sp>
        <p:nvSpPr>
          <p:cNvPr id="174" name="Google Shape;174;p23"/>
          <p:cNvSpPr txBox="1"/>
          <p:nvPr/>
        </p:nvSpPr>
        <p:spPr>
          <a:xfrm>
            <a:off x="479400" y="1433675"/>
            <a:ext cx="10874400" cy="46101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chemeClr val="dk1"/>
              </a:buClr>
              <a:buSzPts val="1900"/>
              <a:buChar char="●"/>
            </a:pPr>
            <a:r>
              <a:rPr lang="en-AU" sz="1900">
                <a:solidFill>
                  <a:srgbClr val="1F1F1F"/>
                </a:solidFill>
              </a:rPr>
              <a:t>UNet - U-Net: Convolutional Networks for Biomedical Image Segmentation </a:t>
            </a:r>
            <a:endParaRPr sz="1900">
              <a:solidFill>
                <a:srgbClr val="1F1F1F"/>
              </a:solidFill>
            </a:endParaRPr>
          </a:p>
          <a:p>
            <a:pPr indent="0" lvl="0" marL="914400" rtl="0" algn="l">
              <a:lnSpc>
                <a:spcPct val="115000"/>
              </a:lnSpc>
              <a:spcBef>
                <a:spcPts val="1200"/>
              </a:spcBef>
              <a:spcAft>
                <a:spcPts val="0"/>
              </a:spcAft>
              <a:buNone/>
            </a:pPr>
            <a:r>
              <a:rPr lang="en-AU" sz="1200">
                <a:solidFill>
                  <a:schemeClr val="dk1"/>
                </a:solidFill>
              </a:rPr>
              <a:t>Ronneberger, O., Fischer, P., &amp; Brox, T. (2015). U-Net: Convolutional networks for biomedical image segmentation. </a:t>
            </a:r>
            <a:r>
              <a:rPr i="1" lang="en-AU" sz="1200">
                <a:solidFill>
                  <a:schemeClr val="dk1"/>
                </a:solidFill>
              </a:rPr>
              <a:t>arXiv preprint arXiv:1505.04597</a:t>
            </a:r>
            <a:r>
              <a:rPr lang="en-AU" sz="1200">
                <a:solidFill>
                  <a:schemeClr val="dk1"/>
                </a:solidFill>
              </a:rPr>
              <a:t>.</a:t>
            </a:r>
            <a:r>
              <a:rPr lang="en-AU" sz="1200">
                <a:solidFill>
                  <a:schemeClr val="dk1"/>
                </a:solidFill>
                <a:uFill>
                  <a:noFill/>
                </a:uFill>
                <a:hlinkClick r:id="rId3">
                  <a:extLst>
                    <a:ext uri="{A12FA001-AC4F-418D-AE19-62706E023703}">
                      <ahyp:hlinkClr val="tx"/>
                    </a:ext>
                  </a:extLst>
                </a:hlinkClick>
              </a:rPr>
              <a:t> </a:t>
            </a:r>
            <a:r>
              <a:rPr lang="en-AU" sz="1200" u="sng">
                <a:solidFill>
                  <a:schemeClr val="hlink"/>
                </a:solidFill>
                <a:hlinkClick r:id="rId4"/>
              </a:rPr>
              <a:t>https://arxiv.org/abs/1505.04597</a:t>
            </a:r>
            <a:endParaRPr sz="1200">
              <a:solidFill>
                <a:srgbClr val="1F1F1F"/>
              </a:solidFill>
            </a:endParaRPr>
          </a:p>
          <a:p>
            <a:pPr indent="-349250" lvl="1" marL="914400" rtl="0" algn="l">
              <a:lnSpc>
                <a:spcPct val="115000"/>
              </a:lnSpc>
              <a:spcBef>
                <a:spcPts val="1200"/>
              </a:spcBef>
              <a:spcAft>
                <a:spcPts val="0"/>
              </a:spcAft>
              <a:buClr>
                <a:srgbClr val="1F1F1F"/>
              </a:buClr>
              <a:buSzPts val="1900"/>
              <a:buChar char="○"/>
            </a:pPr>
            <a:r>
              <a:rPr lang="en-AU" sz="1900">
                <a:solidFill>
                  <a:srgbClr val="1F1F1F"/>
                </a:solidFill>
              </a:rPr>
              <a:t>U-net is efficient for this task in both accuracy and amount of data required</a:t>
            </a:r>
            <a:endParaRPr sz="1900">
              <a:solidFill>
                <a:srgbClr val="1F1F1F"/>
              </a:solidFill>
            </a:endParaRPr>
          </a:p>
          <a:p>
            <a:pPr indent="-349250" lvl="1" marL="914400" rtl="0" algn="l">
              <a:lnSpc>
                <a:spcPct val="115000"/>
              </a:lnSpc>
              <a:spcBef>
                <a:spcPts val="0"/>
              </a:spcBef>
              <a:spcAft>
                <a:spcPts val="0"/>
              </a:spcAft>
              <a:buClr>
                <a:srgbClr val="1F1F1F"/>
              </a:buClr>
              <a:buSzPts val="1900"/>
              <a:buChar char="○"/>
            </a:pPr>
            <a:r>
              <a:rPr lang="en-AU" sz="1900">
                <a:solidFill>
                  <a:srgbClr val="1F1F1F"/>
                </a:solidFill>
              </a:rPr>
              <a:t>Its encoder-decoder structure with skip connections allows precise localization and detailed segmentation</a:t>
            </a:r>
            <a:endParaRPr sz="1900">
              <a:solidFill>
                <a:srgbClr val="1F1F1F"/>
              </a:solidFill>
            </a:endParaRPr>
          </a:p>
          <a:p>
            <a:pPr indent="0" lvl="0" marL="914400" rtl="0" algn="l">
              <a:lnSpc>
                <a:spcPct val="115000"/>
              </a:lnSpc>
              <a:spcBef>
                <a:spcPts val="1200"/>
              </a:spcBef>
              <a:spcAft>
                <a:spcPts val="0"/>
              </a:spcAft>
              <a:buNone/>
            </a:pPr>
            <a:r>
              <a:t/>
            </a:r>
            <a:endParaRPr sz="1900">
              <a:solidFill>
                <a:srgbClr val="1F1F1F"/>
              </a:solidFill>
            </a:endParaRPr>
          </a:p>
          <a:p>
            <a:pPr indent="-349250" lvl="0" marL="457200" rtl="0" algn="l">
              <a:lnSpc>
                <a:spcPct val="115000"/>
              </a:lnSpc>
              <a:spcBef>
                <a:spcPts val="1200"/>
              </a:spcBef>
              <a:spcAft>
                <a:spcPts val="0"/>
              </a:spcAft>
              <a:buClr>
                <a:schemeClr val="dk1"/>
              </a:buClr>
              <a:buSzPts val="1900"/>
              <a:buChar char="●"/>
            </a:pPr>
            <a:r>
              <a:rPr lang="en-AU" sz="1900">
                <a:solidFill>
                  <a:srgbClr val="1F1F1F"/>
                </a:solidFill>
              </a:rPr>
              <a:t>DeepLabV3 </a:t>
            </a:r>
            <a:r>
              <a:rPr lang="en-AU" sz="1900">
                <a:solidFill>
                  <a:srgbClr val="1F1F1F"/>
                </a:solidFill>
              </a:rPr>
              <a:t>- Rethinking Atrous Convolution for Semantic Image Segmentation</a:t>
            </a:r>
            <a:endParaRPr sz="1200">
              <a:solidFill>
                <a:srgbClr val="1F1F1F"/>
              </a:solidFill>
            </a:endParaRPr>
          </a:p>
          <a:p>
            <a:pPr indent="0" lvl="0" marL="914400" rtl="0" algn="l">
              <a:lnSpc>
                <a:spcPct val="115000"/>
              </a:lnSpc>
              <a:spcBef>
                <a:spcPts val="1200"/>
              </a:spcBef>
              <a:spcAft>
                <a:spcPts val="0"/>
              </a:spcAft>
              <a:buNone/>
            </a:pPr>
            <a:r>
              <a:rPr lang="en-AU" sz="1100">
                <a:solidFill>
                  <a:schemeClr val="dk1"/>
                </a:solidFill>
              </a:rPr>
              <a:t>Chen, L.-C., Papandreou, G., Schroff, F., &amp; Adam, H. (2017). Rethinking atrous convolution for semantic image segmentation. </a:t>
            </a:r>
            <a:r>
              <a:rPr i="1" lang="en-AU" sz="1100">
                <a:solidFill>
                  <a:schemeClr val="dk1"/>
                </a:solidFill>
              </a:rPr>
              <a:t>arXiv preprint arXiv:1706.05587</a:t>
            </a:r>
            <a:r>
              <a:rPr lang="en-AU" sz="1100">
                <a:solidFill>
                  <a:schemeClr val="dk1"/>
                </a:solidFill>
              </a:rPr>
              <a:t>.</a:t>
            </a:r>
            <a:r>
              <a:rPr lang="en-AU" sz="1100">
                <a:solidFill>
                  <a:schemeClr val="dk1"/>
                </a:solidFill>
                <a:uFill>
                  <a:noFill/>
                </a:uFill>
                <a:hlinkClick r:id="rId5">
                  <a:extLst>
                    <a:ext uri="{A12FA001-AC4F-418D-AE19-62706E023703}">
                      <ahyp:hlinkClr val="tx"/>
                    </a:ext>
                  </a:extLst>
                </a:hlinkClick>
              </a:rPr>
              <a:t> </a:t>
            </a:r>
            <a:r>
              <a:rPr lang="en-AU" sz="1100" u="sng">
                <a:solidFill>
                  <a:schemeClr val="hlink"/>
                </a:solidFill>
                <a:hlinkClick r:id="rId6"/>
              </a:rPr>
              <a:t>https://arxiv.org/abs/1706.05587</a:t>
            </a:r>
            <a:endParaRPr sz="1200">
              <a:solidFill>
                <a:srgbClr val="1F1F1F"/>
              </a:solidFill>
            </a:endParaRPr>
          </a:p>
          <a:p>
            <a:pPr indent="-349250" lvl="1" marL="914400" rtl="0" algn="l">
              <a:lnSpc>
                <a:spcPct val="115000"/>
              </a:lnSpc>
              <a:spcBef>
                <a:spcPts val="1200"/>
              </a:spcBef>
              <a:spcAft>
                <a:spcPts val="0"/>
              </a:spcAft>
              <a:buClr>
                <a:schemeClr val="dk1"/>
              </a:buClr>
              <a:buSzPts val="1900"/>
              <a:buChar char="○"/>
            </a:pPr>
            <a:r>
              <a:rPr lang="en-AU" sz="1900">
                <a:solidFill>
                  <a:srgbClr val="1F1F1F"/>
                </a:solidFill>
              </a:rPr>
              <a:t>DeepLabV3 leverages dilated convolutions and multi-scale context, which can enhance segmentation accuracy in challenging images.</a:t>
            </a:r>
            <a:endParaRPr sz="1900">
              <a:solidFill>
                <a:srgbClr val="1F1F1F"/>
              </a:solidFill>
            </a:endParaRPr>
          </a:p>
        </p:txBody>
      </p:sp>
      <p:sp>
        <p:nvSpPr>
          <p:cNvPr id="175" name="Google Shape;175;p23"/>
          <p:cNvSpPr txBox="1"/>
          <p:nvPr/>
        </p:nvSpPr>
        <p:spPr>
          <a:xfrm>
            <a:off x="119743" y="6225545"/>
            <a:ext cx="7326000" cy="265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AU" sz="1100">
                <a:solidFill>
                  <a:schemeClr val="dk1"/>
                </a:solidFill>
              </a:rPr>
              <a:t>Presenter: Kiattechin Rungruengsakorn (z5516202)</a:t>
            </a:r>
            <a:endParaRPr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4"/>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Classification</a:t>
            </a:r>
            <a:endParaRPr/>
          </a:p>
        </p:txBody>
      </p:sp>
      <p:sp>
        <p:nvSpPr>
          <p:cNvPr id="181" name="Google Shape;181;p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182" name="Google Shape;182;p24"/>
          <p:cNvSpPr txBox="1"/>
          <p:nvPr/>
        </p:nvSpPr>
        <p:spPr>
          <a:xfrm>
            <a:off x="119743" y="6225545"/>
            <a:ext cx="7326000" cy="265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AU" sz="1100">
                <a:solidFill>
                  <a:schemeClr val="dk1"/>
                </a:solidFill>
              </a:rPr>
              <a:t>Presenter: Kiattechin Rungruengsakorn (z5516202)</a:t>
            </a:r>
            <a:endParaRPr sz="1100">
              <a:solidFill>
                <a:schemeClr val="dk1"/>
              </a:solidFill>
            </a:endParaRPr>
          </a:p>
        </p:txBody>
      </p:sp>
      <p:sp>
        <p:nvSpPr>
          <p:cNvPr id="183" name="Google Shape;183;p24"/>
          <p:cNvSpPr txBox="1"/>
          <p:nvPr/>
        </p:nvSpPr>
        <p:spPr>
          <a:xfrm>
            <a:off x="986350" y="1872825"/>
            <a:ext cx="8940900" cy="27705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Calibri"/>
              <a:buChar char="●"/>
            </a:pPr>
            <a:r>
              <a:rPr lang="en-AU" sz="2400">
                <a:solidFill>
                  <a:schemeClr val="dk1"/>
                </a:solidFill>
                <a:latin typeface="Calibri"/>
                <a:ea typeface="Calibri"/>
                <a:cs typeface="Calibri"/>
                <a:sym typeface="Calibri"/>
              </a:rPr>
              <a:t>Utilise Convolutional Neural Network</a:t>
            </a:r>
            <a:endParaRPr sz="24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AU" sz="2400">
                <a:solidFill>
                  <a:schemeClr val="dk1"/>
                </a:solidFill>
                <a:latin typeface="Calibri"/>
                <a:ea typeface="Calibri"/>
                <a:cs typeface="Calibri"/>
                <a:sym typeface="Calibri"/>
              </a:rPr>
              <a:t>Used pretrained model with transfer learning to fit our task</a:t>
            </a:r>
            <a:endParaRPr sz="24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Font typeface="Calibri"/>
              <a:buChar char="●"/>
            </a:pPr>
            <a:r>
              <a:rPr lang="en-AU" sz="2400">
                <a:solidFill>
                  <a:schemeClr val="dk1"/>
                </a:solidFill>
                <a:latin typeface="Calibri"/>
                <a:ea typeface="Calibri"/>
                <a:cs typeface="Calibri"/>
                <a:sym typeface="Calibri"/>
              </a:rPr>
              <a:t>Classify into 3 types: Normal, Benign, and Malignant</a:t>
            </a:r>
            <a:endParaRPr sz="2400">
              <a:solidFill>
                <a:schemeClr val="dk1"/>
              </a:solidFill>
              <a:latin typeface="Calibri"/>
              <a:ea typeface="Calibri"/>
              <a:cs typeface="Calibri"/>
              <a:sym typeface="Calibri"/>
            </a:endParaRPr>
          </a:p>
        </p:txBody>
      </p:sp>
      <p:pic>
        <p:nvPicPr>
          <p:cNvPr id="184" name="Google Shape;184;p24"/>
          <p:cNvPicPr preferRelativeResize="0"/>
          <p:nvPr/>
        </p:nvPicPr>
        <p:blipFill>
          <a:blip r:embed="rId3">
            <a:alphaModFix/>
          </a:blip>
          <a:stretch>
            <a:fillRect/>
          </a:stretch>
        </p:blipFill>
        <p:spPr>
          <a:xfrm>
            <a:off x="9276039" y="1109725"/>
            <a:ext cx="2296225" cy="4296700"/>
          </a:xfrm>
          <a:prstGeom prst="rect">
            <a:avLst/>
          </a:prstGeom>
          <a:noFill/>
          <a:ln>
            <a:noFill/>
          </a:ln>
        </p:spPr>
      </p:pic>
      <p:sp>
        <p:nvSpPr>
          <p:cNvPr id="185" name="Google Shape;185;p24"/>
          <p:cNvSpPr txBox="1"/>
          <p:nvPr/>
        </p:nvSpPr>
        <p:spPr>
          <a:xfrm>
            <a:off x="7717052" y="5529337"/>
            <a:ext cx="4530300" cy="58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900">
                <a:solidFill>
                  <a:schemeClr val="dk1"/>
                </a:solidFill>
                <a:latin typeface="Calibri"/>
                <a:ea typeface="Calibri"/>
                <a:cs typeface="Calibri"/>
                <a:sym typeface="Calibri"/>
              </a:rPr>
              <a:t>Al-Humaidan, Norah &amp; Prince, Master. (2021). A Classification of Arab Ethnicity Based on Face Image Using Deep Learning Approach. IEEE Access. PP. 1-1. 10.1109/ACCESS.2021.3069022. </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5"/>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Classification</a:t>
            </a:r>
            <a:endParaRPr/>
          </a:p>
        </p:txBody>
      </p:sp>
      <p:sp>
        <p:nvSpPr>
          <p:cNvPr id="191" name="Google Shape;191;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192" name="Google Shape;192;p25"/>
          <p:cNvSpPr txBox="1"/>
          <p:nvPr/>
        </p:nvSpPr>
        <p:spPr>
          <a:xfrm>
            <a:off x="119743" y="6225545"/>
            <a:ext cx="7326000" cy="26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100">
                <a:solidFill>
                  <a:schemeClr val="dk1"/>
                </a:solidFill>
                <a:latin typeface="Arial"/>
                <a:ea typeface="Arial"/>
                <a:cs typeface="Arial"/>
                <a:sym typeface="Arial"/>
              </a:rPr>
              <a:t>Presenter: </a:t>
            </a:r>
            <a:r>
              <a:rPr lang="en-AU" sz="1100">
                <a:solidFill>
                  <a:schemeClr val="dk1"/>
                </a:solidFill>
              </a:rPr>
              <a:t>Kiattechin Rungruengsakorn (z5516202)</a:t>
            </a:r>
            <a:endParaRPr/>
          </a:p>
        </p:txBody>
      </p:sp>
      <p:sp>
        <p:nvSpPr>
          <p:cNvPr id="193" name="Google Shape;193;p25"/>
          <p:cNvSpPr txBox="1"/>
          <p:nvPr/>
        </p:nvSpPr>
        <p:spPr>
          <a:xfrm>
            <a:off x="430850" y="1153675"/>
            <a:ext cx="6153000" cy="14775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Clr>
                <a:schemeClr val="dk1"/>
              </a:buClr>
              <a:buSzPts val="2800"/>
              <a:buFont typeface="Calibri"/>
              <a:buChar char="●"/>
            </a:pPr>
            <a:r>
              <a:rPr lang="en-AU" sz="2800">
                <a:solidFill>
                  <a:schemeClr val="dk1"/>
                </a:solidFill>
                <a:latin typeface="Calibri"/>
                <a:ea typeface="Calibri"/>
                <a:cs typeface="Calibri"/>
                <a:sym typeface="Calibri"/>
              </a:rPr>
              <a:t>ResNet50</a:t>
            </a:r>
            <a:endParaRPr sz="2800">
              <a:solidFill>
                <a:schemeClr val="dk1"/>
              </a:solidFill>
              <a:latin typeface="Calibri"/>
              <a:ea typeface="Calibri"/>
              <a:cs typeface="Calibri"/>
              <a:sym typeface="Calibri"/>
            </a:endParaRPr>
          </a:p>
          <a:p>
            <a:pPr indent="-406400" lvl="1" marL="914400" rtl="0" algn="l">
              <a:spcBef>
                <a:spcPts val="0"/>
              </a:spcBef>
              <a:spcAft>
                <a:spcPts val="0"/>
              </a:spcAft>
              <a:buClr>
                <a:schemeClr val="dk1"/>
              </a:buClr>
              <a:buSzPts val="2800"/>
              <a:buFont typeface="Calibri"/>
              <a:buChar char="○"/>
            </a:pPr>
            <a:r>
              <a:rPr lang="en-AU" sz="2000">
                <a:solidFill>
                  <a:schemeClr val="dk1"/>
                </a:solidFill>
                <a:latin typeface="Calibri"/>
                <a:ea typeface="Calibri"/>
                <a:cs typeface="Calibri"/>
                <a:sym typeface="Calibri"/>
              </a:rPr>
              <a:t>Utilize skip connections</a:t>
            </a:r>
            <a:endParaRPr sz="2800">
              <a:solidFill>
                <a:schemeClr val="dk1"/>
              </a:solidFill>
              <a:latin typeface="Calibri"/>
              <a:ea typeface="Calibri"/>
              <a:cs typeface="Calibri"/>
              <a:sym typeface="Calibri"/>
            </a:endParaRPr>
          </a:p>
          <a:p>
            <a:pPr indent="-406400" lvl="1" marL="914400" rtl="0" algn="l">
              <a:spcBef>
                <a:spcPts val="0"/>
              </a:spcBef>
              <a:spcAft>
                <a:spcPts val="0"/>
              </a:spcAft>
              <a:buClr>
                <a:schemeClr val="dk1"/>
              </a:buClr>
              <a:buSzPts val="2800"/>
              <a:buFont typeface="Calibri"/>
              <a:buChar char="○"/>
            </a:pPr>
            <a:r>
              <a:rPr lang="en-AU" sz="2000">
                <a:solidFill>
                  <a:schemeClr val="dk1"/>
                </a:solidFill>
                <a:latin typeface="Calibri"/>
                <a:ea typeface="Calibri"/>
                <a:cs typeface="Calibri"/>
                <a:sym typeface="Calibri"/>
              </a:rPr>
              <a:t>Use Fully connected layer for the last layer</a:t>
            </a:r>
            <a:endParaRPr sz="2800">
              <a:solidFill>
                <a:schemeClr val="dk1"/>
              </a:solidFill>
              <a:latin typeface="Calibri"/>
              <a:ea typeface="Calibri"/>
              <a:cs typeface="Calibri"/>
              <a:sym typeface="Calibri"/>
            </a:endParaRPr>
          </a:p>
        </p:txBody>
      </p:sp>
      <p:sp>
        <p:nvSpPr>
          <p:cNvPr id="194" name="Google Shape;194;p25"/>
          <p:cNvSpPr txBox="1"/>
          <p:nvPr/>
        </p:nvSpPr>
        <p:spPr>
          <a:xfrm>
            <a:off x="6145875" y="1153663"/>
            <a:ext cx="6153000" cy="14775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Clr>
                <a:schemeClr val="dk1"/>
              </a:buClr>
              <a:buSzPts val="2800"/>
              <a:buFont typeface="Calibri"/>
              <a:buChar char="●"/>
            </a:pPr>
            <a:r>
              <a:rPr lang="en-AU" sz="2800">
                <a:solidFill>
                  <a:schemeClr val="dk1"/>
                </a:solidFill>
                <a:latin typeface="Calibri"/>
                <a:ea typeface="Calibri"/>
                <a:cs typeface="Calibri"/>
                <a:sym typeface="Calibri"/>
              </a:rPr>
              <a:t>VGG-19</a:t>
            </a:r>
            <a:endParaRPr sz="2800">
              <a:solidFill>
                <a:schemeClr val="dk1"/>
              </a:solidFill>
              <a:latin typeface="Calibri"/>
              <a:ea typeface="Calibri"/>
              <a:cs typeface="Calibri"/>
              <a:sym typeface="Calibri"/>
            </a:endParaRPr>
          </a:p>
          <a:p>
            <a:pPr indent="-406400" lvl="1" marL="914400" rtl="0" algn="l">
              <a:spcBef>
                <a:spcPts val="0"/>
              </a:spcBef>
              <a:spcAft>
                <a:spcPts val="0"/>
              </a:spcAft>
              <a:buClr>
                <a:schemeClr val="dk1"/>
              </a:buClr>
              <a:buSzPts val="2800"/>
              <a:buFont typeface="Calibri"/>
              <a:buChar char="○"/>
            </a:pPr>
            <a:r>
              <a:rPr lang="en-AU" sz="2000">
                <a:solidFill>
                  <a:schemeClr val="dk1"/>
                </a:solidFill>
                <a:latin typeface="Calibri"/>
                <a:ea typeface="Calibri"/>
                <a:cs typeface="Calibri"/>
                <a:sym typeface="Calibri"/>
              </a:rPr>
              <a:t>Use fully convolutional layer.</a:t>
            </a:r>
            <a:endParaRPr sz="2000">
              <a:solidFill>
                <a:schemeClr val="dk1"/>
              </a:solidFill>
              <a:latin typeface="Calibri"/>
              <a:ea typeface="Calibri"/>
              <a:cs typeface="Calibri"/>
              <a:sym typeface="Calibri"/>
            </a:endParaRPr>
          </a:p>
          <a:p>
            <a:pPr indent="-406400" lvl="1" marL="914400" rtl="0" algn="l">
              <a:spcBef>
                <a:spcPts val="0"/>
              </a:spcBef>
              <a:spcAft>
                <a:spcPts val="0"/>
              </a:spcAft>
              <a:buClr>
                <a:schemeClr val="dk1"/>
              </a:buClr>
              <a:buSzPts val="2800"/>
              <a:buFont typeface="Calibri"/>
              <a:buChar char="○"/>
            </a:pPr>
            <a:r>
              <a:rPr lang="en-AU" sz="2000">
                <a:solidFill>
                  <a:schemeClr val="dk1"/>
                </a:solidFill>
                <a:latin typeface="Calibri"/>
                <a:ea typeface="Calibri"/>
                <a:cs typeface="Calibri"/>
                <a:sym typeface="Calibri"/>
              </a:rPr>
              <a:t>Pooling about every 2 - 4 layers</a:t>
            </a:r>
            <a:endParaRPr sz="2800">
              <a:solidFill>
                <a:schemeClr val="dk1"/>
              </a:solidFill>
              <a:latin typeface="Calibri"/>
              <a:ea typeface="Calibri"/>
              <a:cs typeface="Calibri"/>
              <a:sym typeface="Calibri"/>
            </a:endParaRPr>
          </a:p>
        </p:txBody>
      </p:sp>
      <p:pic>
        <p:nvPicPr>
          <p:cNvPr id="195" name="Google Shape;195;p25"/>
          <p:cNvPicPr preferRelativeResize="0"/>
          <p:nvPr/>
        </p:nvPicPr>
        <p:blipFill>
          <a:blip r:embed="rId3">
            <a:alphaModFix/>
          </a:blip>
          <a:stretch>
            <a:fillRect/>
          </a:stretch>
        </p:blipFill>
        <p:spPr>
          <a:xfrm>
            <a:off x="2733650" y="3253600"/>
            <a:ext cx="5943600" cy="1295400"/>
          </a:xfrm>
          <a:prstGeom prst="rect">
            <a:avLst/>
          </a:prstGeom>
          <a:noFill/>
          <a:ln>
            <a:noFill/>
          </a:ln>
        </p:spPr>
      </p:pic>
      <p:sp>
        <p:nvSpPr>
          <p:cNvPr id="196" name="Google Shape;196;p25"/>
          <p:cNvSpPr txBox="1"/>
          <p:nvPr/>
        </p:nvSpPr>
        <p:spPr>
          <a:xfrm>
            <a:off x="2688950" y="4814125"/>
            <a:ext cx="60330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AU" sz="1500">
                <a:solidFill>
                  <a:schemeClr val="dk1"/>
                </a:solidFill>
                <a:latin typeface="Calibri"/>
                <a:ea typeface="Calibri"/>
                <a:cs typeface="Calibri"/>
                <a:sym typeface="Calibri"/>
              </a:rPr>
              <a:t>VGG19 Architecture</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AU" sz="900">
                <a:solidFill>
                  <a:schemeClr val="dk1"/>
                </a:solidFill>
              </a:rPr>
              <a:t>Alotaibi, M., Aljouie, A., Alluhaidan, N., et al. (2023). Breast cancer classification using CNN and image fusion with ultrasound. </a:t>
            </a:r>
            <a:r>
              <a:rPr i="1" lang="en-AU" sz="900">
                <a:solidFill>
                  <a:schemeClr val="dk1"/>
                </a:solidFill>
              </a:rPr>
              <a:t>Heliyon, 9</a:t>
            </a:r>
            <a:r>
              <a:rPr lang="en-AU" sz="900">
                <a:solidFill>
                  <a:schemeClr val="dk1"/>
                </a:solidFill>
              </a:rPr>
              <a:t>(11), e22406.</a:t>
            </a:r>
            <a:r>
              <a:rPr lang="en-AU" sz="900">
                <a:solidFill>
                  <a:schemeClr val="dk1"/>
                </a:solidFill>
                <a:uFill>
                  <a:noFill/>
                </a:uFill>
                <a:hlinkClick r:id="rId4">
                  <a:extLst>
                    <a:ext uri="{A12FA001-AC4F-418D-AE19-62706E023703}">
                      <ahyp:hlinkClr val="tx"/>
                    </a:ext>
                  </a:extLst>
                </a:hlinkClick>
              </a:rPr>
              <a:t> </a:t>
            </a:r>
            <a:r>
              <a:rPr lang="en-AU" sz="900" u="sng">
                <a:solidFill>
                  <a:schemeClr val="hlink"/>
                </a:solidFill>
                <a:hlinkClick r:id="rId5"/>
              </a:rPr>
              <a:t>https://doi.org/10.1016/j.heliyon.2023.e22406</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AU"/>
              <a:t>Segmentation</a:t>
            </a:r>
            <a:r>
              <a:rPr lang="en-AU"/>
              <a:t> Approach</a:t>
            </a:r>
            <a:endParaRPr/>
          </a:p>
        </p:txBody>
      </p:sp>
      <p:sp>
        <p:nvSpPr>
          <p:cNvPr id="203" name="Google Shape;203;p26"/>
          <p:cNvSpPr txBox="1"/>
          <p:nvPr>
            <p:ph idx="1" type="body"/>
          </p:nvPr>
        </p:nvSpPr>
        <p:spPr>
          <a:xfrm>
            <a:off x="838200" y="1825625"/>
            <a:ext cx="10515600" cy="40881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AU"/>
              <a:t>Three Steps Taken:</a:t>
            </a:r>
            <a:endParaRPr/>
          </a:p>
          <a:p>
            <a:pPr indent="0" lvl="0" marL="0" rtl="0" algn="l">
              <a:spcBef>
                <a:spcPts val="1000"/>
              </a:spcBef>
              <a:spcAft>
                <a:spcPts val="0"/>
              </a:spcAft>
              <a:buNone/>
            </a:pPr>
            <a:r>
              <a:t/>
            </a:r>
            <a:endParaRPr/>
          </a:p>
          <a:p>
            <a:pPr indent="-406400" lvl="0" marL="457200" rtl="0" algn="l">
              <a:spcBef>
                <a:spcPts val="1000"/>
              </a:spcBef>
              <a:spcAft>
                <a:spcPts val="0"/>
              </a:spcAft>
              <a:buSzPts val="2800"/>
              <a:buChar char="•"/>
            </a:pPr>
            <a:r>
              <a:rPr lang="en-AU"/>
              <a:t>Traditional Segmentation Method</a:t>
            </a:r>
            <a:endParaRPr/>
          </a:p>
          <a:p>
            <a:pPr indent="0" lvl="0" marL="0" rtl="0" algn="l">
              <a:spcBef>
                <a:spcPts val="1000"/>
              </a:spcBef>
              <a:spcAft>
                <a:spcPts val="0"/>
              </a:spcAft>
              <a:buNone/>
            </a:pPr>
            <a:r>
              <a:t/>
            </a:r>
            <a:endParaRPr/>
          </a:p>
          <a:p>
            <a:pPr indent="-406400" lvl="0" marL="457200" rtl="0" algn="l">
              <a:spcBef>
                <a:spcPts val="1000"/>
              </a:spcBef>
              <a:spcAft>
                <a:spcPts val="0"/>
              </a:spcAft>
              <a:buSzPts val="2800"/>
              <a:buChar char="•"/>
            </a:pPr>
            <a:r>
              <a:rPr lang="en-AU"/>
              <a:t>Attempt Various Different Models:</a:t>
            </a:r>
            <a:endParaRPr/>
          </a:p>
          <a:p>
            <a:pPr indent="-393700" lvl="1" marL="914400" rtl="0" algn="l">
              <a:spcBef>
                <a:spcPts val="0"/>
              </a:spcBef>
              <a:spcAft>
                <a:spcPts val="0"/>
              </a:spcAft>
              <a:buSzPts val="2600"/>
              <a:buChar char="•"/>
            </a:pPr>
            <a:r>
              <a:rPr lang="en-AU" sz="2600"/>
              <a:t>DeepLab V3</a:t>
            </a:r>
            <a:endParaRPr sz="2600"/>
          </a:p>
          <a:p>
            <a:pPr indent="-393700" lvl="1" marL="914400" rtl="0" algn="l">
              <a:spcBef>
                <a:spcPts val="0"/>
              </a:spcBef>
              <a:spcAft>
                <a:spcPts val="0"/>
              </a:spcAft>
              <a:buSzPts val="2600"/>
              <a:buChar char="•"/>
            </a:pPr>
            <a:r>
              <a:rPr lang="en-AU" sz="2600"/>
              <a:t>U-Net</a:t>
            </a:r>
            <a:endParaRPr sz="2600"/>
          </a:p>
          <a:p>
            <a:pPr indent="0" lvl="0" marL="0" rtl="0" algn="l">
              <a:spcBef>
                <a:spcPts val="1000"/>
              </a:spcBef>
              <a:spcAft>
                <a:spcPts val="0"/>
              </a:spcAft>
              <a:buNone/>
            </a:pPr>
            <a:r>
              <a:t/>
            </a:r>
            <a:endParaRPr/>
          </a:p>
          <a:p>
            <a:pPr indent="-406400" lvl="0" marL="457200" rtl="0" algn="l">
              <a:spcBef>
                <a:spcPts val="1000"/>
              </a:spcBef>
              <a:spcAft>
                <a:spcPts val="0"/>
              </a:spcAft>
              <a:buSzPts val="2800"/>
              <a:buChar char="•"/>
            </a:pPr>
            <a:r>
              <a:rPr lang="en-AU"/>
              <a:t>Make an ensemble model to combine multiple trained models</a:t>
            </a:r>
            <a:endParaRPr/>
          </a:p>
        </p:txBody>
      </p:sp>
      <p:sp>
        <p:nvSpPr>
          <p:cNvPr id="204" name="Google Shape;204;p2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
        <p:nvSpPr>
          <p:cNvPr id="205" name="Google Shape;205;p26"/>
          <p:cNvSpPr txBox="1"/>
          <p:nvPr/>
        </p:nvSpPr>
        <p:spPr>
          <a:xfrm>
            <a:off x="119743" y="6225545"/>
            <a:ext cx="7326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100" u="none" cap="none" strike="noStrike">
                <a:solidFill>
                  <a:schemeClr val="dk1"/>
                </a:solidFill>
                <a:latin typeface="Arial"/>
                <a:ea typeface="Arial"/>
                <a:cs typeface="Arial"/>
                <a:sym typeface="Arial"/>
              </a:rPr>
              <a:t>Presenter: </a:t>
            </a:r>
            <a:r>
              <a:rPr lang="en-AU" sz="1100">
                <a:solidFill>
                  <a:schemeClr val="dk1"/>
                </a:solidFill>
              </a:rPr>
              <a:t>Aman Sharma (z5492132)</a:t>
            </a:r>
            <a:endParaRPr sz="1100">
              <a:solidFill>
                <a:schemeClr val="dk1"/>
              </a:solidFill>
            </a:endParaRPr>
          </a:p>
          <a:p>
            <a:pPr indent="0" lvl="0" marL="0" marR="0" rtl="0" algn="l">
              <a:spcBef>
                <a:spcPts val="0"/>
              </a:spcBef>
              <a:spcAft>
                <a:spcPts val="0"/>
              </a:spcAft>
              <a:buNone/>
            </a:pPr>
            <a:r>
              <a:t/>
            </a: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AU"/>
              <a:t>Data Preparation for Segmentation</a:t>
            </a:r>
            <a:endParaRPr/>
          </a:p>
        </p:txBody>
      </p:sp>
      <p:sp>
        <p:nvSpPr>
          <p:cNvPr id="212" name="Google Shape;212;p27"/>
          <p:cNvSpPr txBox="1"/>
          <p:nvPr>
            <p:ph idx="1" type="body"/>
          </p:nvPr>
        </p:nvSpPr>
        <p:spPr>
          <a:xfrm>
            <a:off x="838200" y="1825625"/>
            <a:ext cx="10515600" cy="4088100"/>
          </a:xfrm>
          <a:prstGeom prst="rect">
            <a:avLst/>
          </a:prstGeom>
        </p:spPr>
        <p:txBody>
          <a:bodyPr anchorCtr="0" anchor="t" bIns="45700" lIns="91425" spcFirstLastPara="1" rIns="91425" wrap="square" tIns="45700">
            <a:normAutofit/>
          </a:bodyPr>
          <a:lstStyle/>
          <a:p>
            <a:pPr indent="-355600" lvl="0" marL="457200" rtl="0" algn="l">
              <a:lnSpc>
                <a:spcPct val="95000"/>
              </a:lnSpc>
              <a:spcBef>
                <a:spcPts val="700"/>
              </a:spcBef>
              <a:spcAft>
                <a:spcPts val="0"/>
              </a:spcAft>
              <a:buSzPts val="2000"/>
              <a:buFont typeface="Calibri"/>
              <a:buChar char="•"/>
            </a:pPr>
            <a:r>
              <a:rPr lang="en-AU" sz="2400"/>
              <a:t>Resize Image</a:t>
            </a:r>
            <a:endParaRPr sz="2400"/>
          </a:p>
          <a:p>
            <a:pPr indent="-381000" lvl="0" marL="457200" rtl="0" algn="l">
              <a:lnSpc>
                <a:spcPct val="95000"/>
              </a:lnSpc>
              <a:spcBef>
                <a:spcPts val="0"/>
              </a:spcBef>
              <a:spcAft>
                <a:spcPts val="0"/>
              </a:spcAft>
              <a:buSzPts val="2400"/>
              <a:buChar char="•"/>
            </a:pPr>
            <a:r>
              <a:rPr lang="en-AU" sz="2400"/>
              <a:t>Convert to PyTorch tensors</a:t>
            </a:r>
            <a:endParaRPr sz="2400"/>
          </a:p>
          <a:p>
            <a:pPr indent="-381000" lvl="0" marL="457200" rtl="0" algn="l">
              <a:lnSpc>
                <a:spcPct val="95000"/>
              </a:lnSpc>
              <a:spcBef>
                <a:spcPts val="0"/>
              </a:spcBef>
              <a:spcAft>
                <a:spcPts val="0"/>
              </a:spcAft>
              <a:buSzPts val="2400"/>
              <a:buChar char="•"/>
            </a:pPr>
            <a:r>
              <a:rPr lang="en-AU" sz="2400"/>
              <a:t>Load all three classes for training</a:t>
            </a:r>
            <a:endParaRPr sz="2400"/>
          </a:p>
          <a:p>
            <a:pPr indent="-381000" lvl="0" marL="457200" rtl="0" algn="l">
              <a:lnSpc>
                <a:spcPct val="95000"/>
              </a:lnSpc>
              <a:spcBef>
                <a:spcPts val="0"/>
              </a:spcBef>
              <a:spcAft>
                <a:spcPts val="0"/>
              </a:spcAft>
              <a:buSzPts val="2400"/>
              <a:buChar char="•"/>
            </a:pPr>
            <a:r>
              <a:rPr lang="en-AU" sz="2400"/>
              <a:t>Data augmentation of training set</a:t>
            </a:r>
            <a:endParaRPr sz="2400"/>
          </a:p>
        </p:txBody>
      </p:sp>
      <p:sp>
        <p:nvSpPr>
          <p:cNvPr id="213" name="Google Shape;213;p27"/>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
        <p:nvSpPr>
          <p:cNvPr id="214" name="Google Shape;214;p27"/>
          <p:cNvSpPr txBox="1"/>
          <p:nvPr/>
        </p:nvSpPr>
        <p:spPr>
          <a:xfrm>
            <a:off x="119743" y="6225545"/>
            <a:ext cx="7326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100" u="none" cap="none" strike="noStrike">
                <a:solidFill>
                  <a:schemeClr val="dk1"/>
                </a:solidFill>
                <a:latin typeface="Arial"/>
                <a:ea typeface="Arial"/>
                <a:cs typeface="Arial"/>
                <a:sym typeface="Arial"/>
              </a:rPr>
              <a:t>Presenter: </a:t>
            </a:r>
            <a:r>
              <a:rPr lang="en-AU" sz="1100">
                <a:solidFill>
                  <a:schemeClr val="dk1"/>
                </a:solidFill>
              </a:rPr>
              <a:t>Aman Sharma (z5492132)</a:t>
            </a:r>
            <a:endParaRPr sz="1100">
              <a:solidFill>
                <a:schemeClr val="dk1"/>
              </a:solidFill>
            </a:endParaRPr>
          </a:p>
          <a:p>
            <a:pPr indent="0" lvl="0" marL="0" marR="0" rtl="0" algn="l">
              <a:spcBef>
                <a:spcPts val="0"/>
              </a:spcBef>
              <a:spcAft>
                <a:spcPts val="0"/>
              </a:spcAft>
              <a:buNone/>
            </a:pPr>
            <a:r>
              <a:t/>
            </a:r>
            <a:endParaRPr sz="1100">
              <a:solidFill>
                <a:schemeClr val="dk1"/>
              </a:solidFill>
            </a:endParaRPr>
          </a:p>
        </p:txBody>
      </p:sp>
      <p:pic>
        <p:nvPicPr>
          <p:cNvPr id="215" name="Google Shape;215;p27"/>
          <p:cNvPicPr preferRelativeResize="0"/>
          <p:nvPr/>
        </p:nvPicPr>
        <p:blipFill rotWithShape="1">
          <a:blip r:embed="rId3">
            <a:alphaModFix/>
          </a:blip>
          <a:srcRect b="0" l="0" r="0" t="12838"/>
          <a:stretch/>
        </p:blipFill>
        <p:spPr>
          <a:xfrm>
            <a:off x="2948825" y="3705825"/>
            <a:ext cx="6294351" cy="2323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47148" y="38100"/>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Traditional</a:t>
            </a:r>
            <a:r>
              <a:rPr lang="en-AU"/>
              <a:t> Segmentation</a:t>
            </a:r>
            <a:endParaRPr/>
          </a:p>
        </p:txBody>
      </p:sp>
      <p:sp>
        <p:nvSpPr>
          <p:cNvPr id="221" name="Google Shape;221;p28"/>
          <p:cNvSpPr txBox="1"/>
          <p:nvPr>
            <p:ph idx="1" type="body"/>
          </p:nvPr>
        </p:nvSpPr>
        <p:spPr>
          <a:xfrm>
            <a:off x="231650" y="876906"/>
            <a:ext cx="11631300" cy="1856100"/>
          </a:xfrm>
          <a:prstGeom prst="rect">
            <a:avLst/>
          </a:prstGeom>
          <a:noFill/>
          <a:ln>
            <a:noFill/>
          </a:ln>
        </p:spPr>
        <p:txBody>
          <a:bodyPr anchorCtr="0" anchor="t" bIns="45700" lIns="91425" spcFirstLastPara="1" rIns="91425" wrap="square" tIns="45700">
            <a:normAutofit/>
          </a:bodyPr>
          <a:lstStyle/>
          <a:p>
            <a:pPr indent="-381000" lvl="0" marL="457200" rtl="0" algn="l">
              <a:lnSpc>
                <a:spcPct val="115000"/>
              </a:lnSpc>
              <a:spcBef>
                <a:spcPts val="800"/>
              </a:spcBef>
              <a:spcAft>
                <a:spcPts val="0"/>
              </a:spcAft>
              <a:buSzPts val="2400"/>
              <a:buFont typeface="Calibri"/>
              <a:buChar char="•"/>
            </a:pPr>
            <a:r>
              <a:rPr lang="en-AU" sz="3200">
                <a:latin typeface="Calibri"/>
                <a:ea typeface="Calibri"/>
                <a:cs typeface="Calibri"/>
                <a:sym typeface="Calibri"/>
              </a:rPr>
              <a:t>Segmentation Techniques</a:t>
            </a:r>
            <a:endParaRPr sz="3200">
              <a:latin typeface="Calibri"/>
              <a:ea typeface="Calibri"/>
              <a:cs typeface="Calibri"/>
              <a:sym typeface="Calibri"/>
            </a:endParaRPr>
          </a:p>
          <a:p>
            <a:pPr indent="-381000" lvl="1" marL="914400" rtl="0" algn="l">
              <a:lnSpc>
                <a:spcPct val="115000"/>
              </a:lnSpc>
              <a:spcBef>
                <a:spcPts val="0"/>
              </a:spcBef>
              <a:spcAft>
                <a:spcPts val="0"/>
              </a:spcAft>
              <a:buSzPts val="2400"/>
              <a:buFont typeface="Calibri"/>
              <a:buChar char="•"/>
            </a:pPr>
            <a:r>
              <a:rPr lang="en-AU">
                <a:latin typeface="Calibri"/>
                <a:ea typeface="Calibri"/>
                <a:cs typeface="Calibri"/>
                <a:sym typeface="Calibri"/>
              </a:rPr>
              <a:t>Thresholding: Identifies regions of interest by intensity.</a:t>
            </a:r>
            <a:endParaRPr>
              <a:latin typeface="Calibri"/>
              <a:ea typeface="Calibri"/>
              <a:cs typeface="Calibri"/>
              <a:sym typeface="Calibri"/>
            </a:endParaRPr>
          </a:p>
          <a:p>
            <a:pPr indent="-381000" lvl="1" marL="914400" rtl="0" algn="l">
              <a:lnSpc>
                <a:spcPct val="115000"/>
              </a:lnSpc>
              <a:spcBef>
                <a:spcPts val="0"/>
              </a:spcBef>
              <a:spcAft>
                <a:spcPts val="0"/>
              </a:spcAft>
              <a:buSzPts val="2400"/>
              <a:buFont typeface="Calibri"/>
              <a:buChar char="•"/>
            </a:pPr>
            <a:r>
              <a:rPr lang="en-AU">
                <a:latin typeface="Calibri"/>
                <a:ea typeface="Calibri"/>
                <a:cs typeface="Calibri"/>
                <a:sym typeface="Calibri"/>
              </a:rPr>
              <a:t>Morphological Operations: Dilation, erosion to refine mask edges.</a:t>
            </a:r>
            <a:endParaRPr sz="2400">
              <a:latin typeface="Calibri"/>
              <a:ea typeface="Calibri"/>
              <a:cs typeface="Calibri"/>
              <a:sym typeface="Calibri"/>
            </a:endParaRPr>
          </a:p>
        </p:txBody>
      </p:sp>
      <p:sp>
        <p:nvSpPr>
          <p:cNvPr id="222" name="Google Shape;22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223" name="Google Shape;223;p28"/>
          <p:cNvSpPr txBox="1"/>
          <p:nvPr/>
        </p:nvSpPr>
        <p:spPr>
          <a:xfrm>
            <a:off x="119743" y="6225545"/>
            <a:ext cx="7326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224" name="Google Shape;224;p28"/>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100" u="none" cap="none" strike="noStrike">
                <a:solidFill>
                  <a:schemeClr val="dk1"/>
                </a:solidFill>
                <a:latin typeface="Arial"/>
                <a:ea typeface="Arial"/>
                <a:cs typeface="Arial"/>
                <a:sym typeface="Arial"/>
              </a:rPr>
              <a:t>Presenter: </a:t>
            </a:r>
            <a:r>
              <a:rPr lang="en-AU" sz="1100">
                <a:solidFill>
                  <a:schemeClr val="dk1"/>
                </a:solidFill>
              </a:rPr>
              <a:t>Aman Sharma (z5492132)</a:t>
            </a:r>
            <a:endParaRPr/>
          </a:p>
        </p:txBody>
      </p:sp>
      <p:pic>
        <p:nvPicPr>
          <p:cNvPr id="225" name="Google Shape;225;p28"/>
          <p:cNvPicPr preferRelativeResize="0"/>
          <p:nvPr/>
        </p:nvPicPr>
        <p:blipFill>
          <a:blip r:embed="rId3">
            <a:alphaModFix/>
          </a:blip>
          <a:stretch>
            <a:fillRect/>
          </a:stretch>
        </p:blipFill>
        <p:spPr>
          <a:xfrm>
            <a:off x="2670875" y="2488025"/>
            <a:ext cx="6752852" cy="35584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9"/>
          <p:cNvSpPr txBox="1"/>
          <p:nvPr>
            <p:ph type="title"/>
          </p:nvPr>
        </p:nvSpPr>
        <p:spPr>
          <a:xfrm>
            <a:off x="64525" y="19905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AU"/>
              <a:t>DeepLabV3 Segmentation</a:t>
            </a:r>
            <a:endParaRPr/>
          </a:p>
        </p:txBody>
      </p:sp>
      <p:sp>
        <p:nvSpPr>
          <p:cNvPr id="232" name="Google Shape;232;p29"/>
          <p:cNvSpPr txBox="1"/>
          <p:nvPr>
            <p:ph idx="1" type="body"/>
          </p:nvPr>
        </p:nvSpPr>
        <p:spPr>
          <a:xfrm>
            <a:off x="236450" y="1524750"/>
            <a:ext cx="10515600" cy="2908800"/>
          </a:xfrm>
          <a:prstGeom prst="rect">
            <a:avLst/>
          </a:prstGeom>
        </p:spPr>
        <p:txBody>
          <a:bodyPr anchorCtr="0" anchor="t" bIns="45700" lIns="91425" spcFirstLastPara="1" rIns="91425" wrap="square" tIns="45700">
            <a:normAutofit/>
          </a:bodyPr>
          <a:lstStyle/>
          <a:p>
            <a:pPr indent="-381000" lvl="0" marL="457200" rtl="0" algn="l">
              <a:lnSpc>
                <a:spcPct val="95000"/>
              </a:lnSpc>
              <a:spcBef>
                <a:spcPts val="800"/>
              </a:spcBef>
              <a:spcAft>
                <a:spcPts val="0"/>
              </a:spcAft>
              <a:buSzPts val="2400"/>
              <a:buFont typeface="Calibri"/>
              <a:buChar char="•"/>
            </a:pPr>
            <a:r>
              <a:rPr lang="en-AU" sz="2400">
                <a:latin typeface="Calibri"/>
                <a:ea typeface="Calibri"/>
                <a:cs typeface="Calibri"/>
                <a:sym typeface="Calibri"/>
              </a:rPr>
              <a:t>Model Architecture:</a:t>
            </a:r>
            <a:endParaRPr sz="2400">
              <a:latin typeface="Calibri"/>
              <a:ea typeface="Calibri"/>
              <a:cs typeface="Calibri"/>
              <a:sym typeface="Calibri"/>
            </a:endParaRPr>
          </a:p>
          <a:p>
            <a:pPr indent="-381000" lvl="1" marL="914400" rtl="0" algn="l">
              <a:lnSpc>
                <a:spcPct val="95000"/>
              </a:lnSpc>
              <a:spcBef>
                <a:spcPts val="0"/>
              </a:spcBef>
              <a:spcAft>
                <a:spcPts val="0"/>
              </a:spcAft>
              <a:buSzPts val="2400"/>
              <a:buFont typeface="Calibri"/>
              <a:buChar char="•"/>
            </a:pPr>
            <a:r>
              <a:rPr lang="en-AU" sz="2400">
                <a:latin typeface="Calibri"/>
                <a:ea typeface="Calibri"/>
                <a:cs typeface="Calibri"/>
                <a:sym typeface="Calibri"/>
              </a:rPr>
              <a:t>Backbone: </a:t>
            </a:r>
            <a:r>
              <a:rPr lang="en-AU">
                <a:latin typeface="Calibri"/>
                <a:ea typeface="Calibri"/>
                <a:cs typeface="Calibri"/>
                <a:sym typeface="Calibri"/>
              </a:rPr>
              <a:t>DeepLabV3</a:t>
            </a:r>
            <a:r>
              <a:rPr lang="en-AU" sz="2400">
                <a:latin typeface="Calibri"/>
                <a:ea typeface="Calibri"/>
                <a:cs typeface="Calibri"/>
                <a:sym typeface="Calibri"/>
              </a:rPr>
              <a:t> with </a:t>
            </a:r>
            <a:r>
              <a:rPr lang="en-AU">
                <a:latin typeface="Calibri"/>
                <a:ea typeface="Calibri"/>
                <a:cs typeface="Calibri"/>
                <a:sym typeface="Calibri"/>
              </a:rPr>
              <a:t>pretrained</a:t>
            </a:r>
            <a:r>
              <a:rPr lang="en-AU" sz="2400">
                <a:latin typeface="Calibri"/>
                <a:ea typeface="Calibri"/>
                <a:cs typeface="Calibri"/>
                <a:sym typeface="Calibri"/>
              </a:rPr>
              <a:t> </a:t>
            </a:r>
            <a:r>
              <a:rPr lang="en-AU">
                <a:latin typeface="Calibri"/>
                <a:ea typeface="Calibri"/>
                <a:cs typeface="Calibri"/>
                <a:sym typeface="Calibri"/>
              </a:rPr>
              <a:t>ResNet101</a:t>
            </a:r>
            <a:r>
              <a:rPr lang="en-AU" sz="2400">
                <a:latin typeface="Calibri"/>
                <a:ea typeface="Calibri"/>
                <a:cs typeface="Calibri"/>
                <a:sym typeface="Calibri"/>
              </a:rPr>
              <a:t> for feature extraction.</a:t>
            </a:r>
            <a:endParaRPr sz="2400">
              <a:latin typeface="Calibri"/>
              <a:ea typeface="Calibri"/>
              <a:cs typeface="Calibri"/>
              <a:sym typeface="Calibri"/>
            </a:endParaRPr>
          </a:p>
          <a:p>
            <a:pPr indent="-381000" lvl="0" marL="457200" rtl="0" algn="l">
              <a:lnSpc>
                <a:spcPct val="95000"/>
              </a:lnSpc>
              <a:spcBef>
                <a:spcPts val="0"/>
              </a:spcBef>
              <a:spcAft>
                <a:spcPts val="0"/>
              </a:spcAft>
              <a:buSzPts val="2400"/>
              <a:buFont typeface="Calibri"/>
              <a:buChar char="•"/>
            </a:pPr>
            <a:r>
              <a:rPr lang="en-AU" sz="2400">
                <a:latin typeface="Calibri"/>
                <a:ea typeface="Calibri"/>
                <a:cs typeface="Calibri"/>
                <a:sym typeface="Calibri"/>
              </a:rPr>
              <a:t>Training Process:</a:t>
            </a:r>
            <a:endParaRPr sz="2400">
              <a:latin typeface="Calibri"/>
              <a:ea typeface="Calibri"/>
              <a:cs typeface="Calibri"/>
              <a:sym typeface="Calibri"/>
            </a:endParaRPr>
          </a:p>
          <a:p>
            <a:pPr indent="-381000" lvl="1" marL="914400" rtl="0" algn="l">
              <a:lnSpc>
                <a:spcPct val="95000"/>
              </a:lnSpc>
              <a:spcBef>
                <a:spcPts val="0"/>
              </a:spcBef>
              <a:spcAft>
                <a:spcPts val="0"/>
              </a:spcAft>
              <a:buSzPts val="2400"/>
              <a:buFont typeface="Calibri"/>
              <a:buChar char="•"/>
            </a:pPr>
            <a:r>
              <a:rPr lang="en-AU" sz="2400">
                <a:latin typeface="Calibri"/>
                <a:ea typeface="Calibri"/>
                <a:cs typeface="Calibri"/>
                <a:sym typeface="Calibri"/>
              </a:rPr>
              <a:t>Loss Function: Cross-entropy for segmentation performance.</a:t>
            </a:r>
            <a:endParaRPr sz="2400">
              <a:latin typeface="Calibri"/>
              <a:ea typeface="Calibri"/>
              <a:cs typeface="Calibri"/>
              <a:sym typeface="Calibri"/>
            </a:endParaRPr>
          </a:p>
          <a:p>
            <a:pPr indent="-381000" lvl="1" marL="914400" rtl="0" algn="l">
              <a:lnSpc>
                <a:spcPct val="95000"/>
              </a:lnSpc>
              <a:spcBef>
                <a:spcPts val="0"/>
              </a:spcBef>
              <a:spcAft>
                <a:spcPts val="0"/>
              </a:spcAft>
              <a:buSzPts val="2400"/>
              <a:buFont typeface="Calibri"/>
              <a:buChar char="•"/>
            </a:pPr>
            <a:r>
              <a:rPr lang="en-AU" sz="2400">
                <a:latin typeface="Calibri"/>
                <a:ea typeface="Calibri"/>
                <a:cs typeface="Calibri"/>
                <a:sym typeface="Calibri"/>
              </a:rPr>
              <a:t>Optimizer: Adam with learning rate adjustments.</a:t>
            </a:r>
            <a:endParaRPr sz="2400">
              <a:latin typeface="Calibri"/>
              <a:ea typeface="Calibri"/>
              <a:cs typeface="Calibri"/>
              <a:sym typeface="Calibri"/>
            </a:endParaRPr>
          </a:p>
          <a:p>
            <a:pPr indent="-381000" lvl="1" marL="914400" rtl="0" algn="l">
              <a:lnSpc>
                <a:spcPct val="95000"/>
              </a:lnSpc>
              <a:spcBef>
                <a:spcPts val="0"/>
              </a:spcBef>
              <a:spcAft>
                <a:spcPts val="0"/>
              </a:spcAft>
              <a:buSzPts val="2400"/>
              <a:buFont typeface="Calibri"/>
              <a:buChar char="•"/>
            </a:pPr>
            <a:r>
              <a:rPr lang="en-AU" sz="2400">
                <a:latin typeface="Calibri"/>
                <a:ea typeface="Calibri"/>
                <a:cs typeface="Calibri"/>
                <a:sym typeface="Calibri"/>
              </a:rPr>
              <a:t>DataLoader: Batches of images and masks for model input.</a:t>
            </a:r>
            <a:endParaRPr sz="2400"/>
          </a:p>
        </p:txBody>
      </p:sp>
      <p:sp>
        <p:nvSpPr>
          <p:cNvPr id="233" name="Google Shape;233;p29"/>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
        <p:nvSpPr>
          <p:cNvPr id="234" name="Google Shape;234;p29"/>
          <p:cNvSpPr txBox="1"/>
          <p:nvPr/>
        </p:nvSpPr>
        <p:spPr>
          <a:xfrm>
            <a:off x="491025" y="4350600"/>
            <a:ext cx="4779000" cy="31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5" name="Google Shape;235;p29"/>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AU" sz="1100" u="none" cap="none" strike="noStrike">
                <a:solidFill>
                  <a:schemeClr val="dk1"/>
                </a:solidFill>
                <a:latin typeface="Arial"/>
                <a:ea typeface="Arial"/>
                <a:cs typeface="Arial"/>
                <a:sym typeface="Arial"/>
              </a:rPr>
              <a:t>Presenter: </a:t>
            </a:r>
            <a:r>
              <a:rPr lang="en-AU" sz="1100">
                <a:solidFill>
                  <a:schemeClr val="dk1"/>
                </a:solidFill>
              </a:rPr>
              <a:t>Aman Sharma (z5492132)</a:t>
            </a:r>
            <a:endParaRPr/>
          </a:p>
        </p:txBody>
      </p:sp>
      <p:pic>
        <p:nvPicPr>
          <p:cNvPr id="236" name="Google Shape;236;p29"/>
          <p:cNvPicPr preferRelativeResize="0"/>
          <p:nvPr/>
        </p:nvPicPr>
        <p:blipFill>
          <a:blip r:embed="rId3">
            <a:alphaModFix/>
          </a:blip>
          <a:stretch>
            <a:fillRect/>
          </a:stretch>
        </p:blipFill>
        <p:spPr>
          <a:xfrm>
            <a:off x="2640025" y="3872775"/>
            <a:ext cx="6911948" cy="22031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0"/>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Unet segmentation</a:t>
            </a:r>
            <a:endParaRPr/>
          </a:p>
        </p:txBody>
      </p:sp>
      <p:sp>
        <p:nvSpPr>
          <p:cNvPr id="242" name="Google Shape;242;p30"/>
          <p:cNvSpPr txBox="1"/>
          <p:nvPr>
            <p:ph idx="1" type="body"/>
          </p:nvPr>
        </p:nvSpPr>
        <p:spPr>
          <a:xfrm>
            <a:off x="231650" y="1082850"/>
            <a:ext cx="5691600" cy="5142600"/>
          </a:xfrm>
          <a:prstGeom prst="rect">
            <a:avLst/>
          </a:prstGeom>
          <a:noFill/>
          <a:ln>
            <a:noFill/>
          </a:ln>
        </p:spPr>
        <p:txBody>
          <a:bodyPr anchorCtr="0" anchor="t" bIns="45700" lIns="91425" spcFirstLastPara="1" rIns="91425" wrap="square" tIns="45700">
            <a:normAutofit/>
          </a:bodyPr>
          <a:lstStyle/>
          <a:p>
            <a:pPr indent="-381000" lvl="1" marL="914400" marR="0" rtl="0" algn="l">
              <a:lnSpc>
                <a:spcPct val="95000"/>
              </a:lnSpc>
              <a:spcBef>
                <a:spcPts val="700"/>
              </a:spcBef>
              <a:spcAft>
                <a:spcPts val="0"/>
              </a:spcAft>
              <a:buSzPts val="2400"/>
              <a:buFont typeface="Calibri"/>
              <a:buChar char="•"/>
            </a:pPr>
            <a:r>
              <a:rPr lang="en-AU"/>
              <a:t>Structure highlight：</a:t>
            </a:r>
            <a:endParaRPr/>
          </a:p>
          <a:p>
            <a:pPr indent="-355600" lvl="2" marL="1371600" marR="0" rtl="0" algn="l">
              <a:lnSpc>
                <a:spcPct val="95000"/>
              </a:lnSpc>
              <a:spcBef>
                <a:spcPts val="0"/>
              </a:spcBef>
              <a:spcAft>
                <a:spcPts val="0"/>
              </a:spcAft>
              <a:buSzPts val="2000"/>
              <a:buFont typeface="Calibri"/>
              <a:buChar char="•"/>
            </a:pPr>
            <a:r>
              <a:rPr lang="en-AU" sz="2400"/>
              <a:t>Symmetric structure for encoder and decoder path</a:t>
            </a:r>
            <a:endParaRPr sz="2400"/>
          </a:p>
          <a:p>
            <a:pPr indent="-381000" lvl="2" marL="1371600" marR="0" rtl="0" algn="l">
              <a:lnSpc>
                <a:spcPct val="95000"/>
              </a:lnSpc>
              <a:spcBef>
                <a:spcPts val="0"/>
              </a:spcBef>
              <a:spcAft>
                <a:spcPts val="0"/>
              </a:spcAft>
              <a:buSzPts val="2400"/>
              <a:buChar char="•"/>
            </a:pPr>
            <a:r>
              <a:rPr lang="en-AU" sz="2400"/>
              <a:t>Each encoder layer is mirrored with a decoder layer</a:t>
            </a:r>
            <a:endParaRPr sz="2400"/>
          </a:p>
          <a:p>
            <a:pPr indent="-381000" lvl="1" marL="914400" marR="0" rtl="0" algn="l">
              <a:lnSpc>
                <a:spcPct val="95000"/>
              </a:lnSpc>
              <a:spcBef>
                <a:spcPts val="0"/>
              </a:spcBef>
              <a:spcAft>
                <a:spcPts val="0"/>
              </a:spcAft>
              <a:buSzPts val="2400"/>
              <a:buFont typeface="Calibri"/>
              <a:buChar char="•"/>
            </a:pPr>
            <a:r>
              <a:rPr lang="en-AU"/>
              <a:t>Key feature: </a:t>
            </a:r>
            <a:endParaRPr/>
          </a:p>
          <a:p>
            <a:pPr indent="-355600" lvl="2" marL="1371600" marR="0" rtl="0" algn="l">
              <a:lnSpc>
                <a:spcPct val="95000"/>
              </a:lnSpc>
              <a:spcBef>
                <a:spcPts val="0"/>
              </a:spcBef>
              <a:spcAft>
                <a:spcPts val="0"/>
              </a:spcAft>
              <a:buSzPts val="2000"/>
              <a:buFont typeface="Calibri"/>
              <a:buChar char="•"/>
            </a:pPr>
            <a:r>
              <a:rPr lang="en-AU" sz="2400"/>
              <a:t>Skip connection to keep detailed spatial information and semantic information</a:t>
            </a:r>
            <a:endParaRPr sz="2400"/>
          </a:p>
        </p:txBody>
      </p:sp>
      <p:sp>
        <p:nvSpPr>
          <p:cNvPr id="243" name="Google Shape;243;p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244" name="Google Shape;244;p30"/>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100">
                <a:solidFill>
                  <a:schemeClr val="dk1"/>
                </a:solidFill>
                <a:latin typeface="Arial"/>
                <a:ea typeface="Arial"/>
                <a:cs typeface="Arial"/>
                <a:sym typeface="Arial"/>
              </a:rPr>
              <a:t>Presenter: </a:t>
            </a:r>
            <a:r>
              <a:rPr lang="en-AU" sz="1100">
                <a:solidFill>
                  <a:schemeClr val="dk1"/>
                </a:solidFill>
              </a:rPr>
              <a:t>Gavin Zhang</a:t>
            </a:r>
            <a:r>
              <a:rPr lang="en-AU" sz="1100">
                <a:solidFill>
                  <a:schemeClr val="dk1"/>
                </a:solidFill>
                <a:latin typeface="Arial"/>
                <a:ea typeface="Arial"/>
                <a:cs typeface="Arial"/>
                <a:sym typeface="Arial"/>
              </a:rPr>
              <a:t> (z</a:t>
            </a:r>
            <a:r>
              <a:rPr lang="en-AU" sz="1100">
                <a:solidFill>
                  <a:schemeClr val="dk1"/>
                </a:solidFill>
              </a:rPr>
              <a:t>5216570</a:t>
            </a:r>
            <a:r>
              <a:rPr lang="en-AU" sz="1100">
                <a:solidFill>
                  <a:schemeClr val="dk1"/>
                </a:solidFill>
                <a:latin typeface="Arial"/>
                <a:ea typeface="Arial"/>
                <a:cs typeface="Arial"/>
                <a:sym typeface="Arial"/>
              </a:rPr>
              <a:t>)</a:t>
            </a:r>
            <a:endParaRPr/>
          </a:p>
        </p:txBody>
      </p:sp>
      <p:pic>
        <p:nvPicPr>
          <p:cNvPr id="245" name="Google Shape;245;p30"/>
          <p:cNvPicPr preferRelativeResize="0"/>
          <p:nvPr/>
        </p:nvPicPr>
        <p:blipFill>
          <a:blip r:embed="rId3">
            <a:alphaModFix/>
          </a:blip>
          <a:stretch>
            <a:fillRect/>
          </a:stretch>
        </p:blipFill>
        <p:spPr>
          <a:xfrm>
            <a:off x="5830850" y="282600"/>
            <a:ext cx="6185876" cy="4121275"/>
          </a:xfrm>
          <a:prstGeom prst="rect">
            <a:avLst/>
          </a:prstGeom>
          <a:noFill/>
          <a:ln>
            <a:noFill/>
          </a:ln>
        </p:spPr>
      </p:pic>
      <p:sp>
        <p:nvSpPr>
          <p:cNvPr id="246" name="Google Shape;246;p30"/>
          <p:cNvSpPr txBox="1"/>
          <p:nvPr/>
        </p:nvSpPr>
        <p:spPr>
          <a:xfrm>
            <a:off x="6571188" y="4403875"/>
            <a:ext cx="4705200" cy="59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AU">
                <a:solidFill>
                  <a:schemeClr val="dk1"/>
                </a:solidFill>
                <a:latin typeface="Calibri"/>
                <a:ea typeface="Calibri"/>
                <a:cs typeface="Calibri"/>
                <a:sym typeface="Calibri"/>
              </a:rPr>
              <a:t>Ronneberger, O., Fischer, P., &amp; Brox, T. (2015). U-Net: Convolutional Networks for Biomedical Image Segmentation</a:t>
            </a:r>
            <a:endParaRPr>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1"/>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Unet segmentation</a:t>
            </a:r>
            <a:endParaRPr/>
          </a:p>
        </p:txBody>
      </p:sp>
      <p:sp>
        <p:nvSpPr>
          <p:cNvPr id="252" name="Google Shape;252;p31"/>
          <p:cNvSpPr txBox="1"/>
          <p:nvPr>
            <p:ph idx="1" type="body"/>
          </p:nvPr>
        </p:nvSpPr>
        <p:spPr>
          <a:xfrm>
            <a:off x="231650" y="1082850"/>
            <a:ext cx="11631300" cy="5035200"/>
          </a:xfrm>
          <a:prstGeom prst="rect">
            <a:avLst/>
          </a:prstGeom>
          <a:noFill/>
          <a:ln>
            <a:noFill/>
          </a:ln>
        </p:spPr>
        <p:txBody>
          <a:bodyPr anchorCtr="0" anchor="t" bIns="45700" lIns="91425" spcFirstLastPara="1" rIns="91425" wrap="square" tIns="45700">
            <a:normAutofit/>
          </a:bodyPr>
          <a:lstStyle/>
          <a:p>
            <a:pPr indent="-381000" lvl="1" marL="914400" rtl="0" algn="l">
              <a:lnSpc>
                <a:spcPct val="95000"/>
              </a:lnSpc>
              <a:spcBef>
                <a:spcPts val="700"/>
              </a:spcBef>
              <a:spcAft>
                <a:spcPts val="0"/>
              </a:spcAft>
              <a:buSzPts val="2400"/>
              <a:buFont typeface="Calibri"/>
              <a:buChar char="•"/>
            </a:pPr>
            <a:r>
              <a:rPr lang="en-AU"/>
              <a:t>Modified UNet</a:t>
            </a:r>
            <a:r>
              <a:rPr lang="en-AU"/>
              <a:t>:</a:t>
            </a:r>
            <a:endParaRPr/>
          </a:p>
          <a:p>
            <a:pPr indent="-381000" lvl="2" marL="1371600" rtl="0" algn="l">
              <a:lnSpc>
                <a:spcPct val="95000"/>
              </a:lnSpc>
              <a:spcBef>
                <a:spcPts val="0"/>
              </a:spcBef>
              <a:spcAft>
                <a:spcPts val="0"/>
              </a:spcAft>
              <a:buSzPts val="2400"/>
              <a:buFont typeface="Calibri"/>
              <a:buChar char="●"/>
            </a:pPr>
            <a:r>
              <a:rPr lang="en-AU" sz="2400"/>
              <a:t>Batch Normalization implemented after each convolutional layer</a:t>
            </a:r>
            <a:endParaRPr sz="2400"/>
          </a:p>
          <a:p>
            <a:pPr indent="-381000" lvl="3" marL="1828800" rtl="0" algn="l">
              <a:lnSpc>
                <a:spcPct val="95000"/>
              </a:lnSpc>
              <a:spcBef>
                <a:spcPts val="0"/>
              </a:spcBef>
              <a:spcAft>
                <a:spcPts val="0"/>
              </a:spcAft>
              <a:buSzPts val="2400"/>
              <a:buChar char="•"/>
            </a:pPr>
            <a:r>
              <a:rPr lang="en-AU" sz="2400"/>
              <a:t>Stabilize the training process</a:t>
            </a:r>
            <a:endParaRPr sz="2400"/>
          </a:p>
          <a:p>
            <a:pPr indent="-381000" lvl="3" marL="1828800" rtl="0" algn="l">
              <a:lnSpc>
                <a:spcPct val="95000"/>
              </a:lnSpc>
              <a:spcBef>
                <a:spcPts val="0"/>
              </a:spcBef>
              <a:spcAft>
                <a:spcPts val="0"/>
              </a:spcAft>
              <a:buSzPts val="2400"/>
              <a:buChar char="•"/>
            </a:pPr>
            <a:r>
              <a:rPr lang="en-AU" sz="2400"/>
              <a:t>Improves generalization</a:t>
            </a:r>
            <a:endParaRPr sz="2400"/>
          </a:p>
          <a:p>
            <a:pPr indent="-381000" lvl="2" marL="1371600" rtl="0" algn="l">
              <a:lnSpc>
                <a:spcPct val="95000"/>
              </a:lnSpc>
              <a:spcBef>
                <a:spcPts val="0"/>
              </a:spcBef>
              <a:spcAft>
                <a:spcPts val="0"/>
              </a:spcAft>
              <a:buSzPts val="2400"/>
              <a:buChar char="●"/>
            </a:pPr>
            <a:r>
              <a:rPr lang="en-AU" sz="2400"/>
              <a:t>Combination of BCE loss and Dice Loss</a:t>
            </a:r>
            <a:endParaRPr sz="2400"/>
          </a:p>
          <a:p>
            <a:pPr indent="-381000" lvl="3" marL="1828800" rtl="0" algn="l">
              <a:lnSpc>
                <a:spcPct val="95000"/>
              </a:lnSpc>
              <a:spcBef>
                <a:spcPts val="0"/>
              </a:spcBef>
              <a:spcAft>
                <a:spcPts val="0"/>
              </a:spcAft>
              <a:buSzPts val="2400"/>
              <a:buChar char="•"/>
            </a:pPr>
            <a:r>
              <a:rPr lang="en-AU" sz="2400"/>
              <a:t>Addresses both pixel-level accuracy and overall segmentation quality</a:t>
            </a:r>
            <a:endParaRPr sz="2400"/>
          </a:p>
          <a:p>
            <a:pPr indent="-381000" lvl="2" marL="1371600" rtl="0" algn="l">
              <a:lnSpc>
                <a:spcPct val="95000"/>
              </a:lnSpc>
              <a:spcBef>
                <a:spcPts val="0"/>
              </a:spcBef>
              <a:spcAft>
                <a:spcPts val="0"/>
              </a:spcAft>
              <a:buSzPts val="2400"/>
              <a:buChar char="●"/>
            </a:pPr>
            <a:r>
              <a:rPr lang="en-AU" sz="2400"/>
              <a:t>Deeper UNet</a:t>
            </a:r>
            <a:endParaRPr sz="2400"/>
          </a:p>
        </p:txBody>
      </p:sp>
      <p:sp>
        <p:nvSpPr>
          <p:cNvPr id="253" name="Google Shape;253;p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254" name="Google Shape;254;p31"/>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100">
                <a:solidFill>
                  <a:schemeClr val="dk1"/>
                </a:solidFill>
                <a:latin typeface="Arial"/>
                <a:ea typeface="Arial"/>
                <a:cs typeface="Arial"/>
                <a:sym typeface="Arial"/>
              </a:rPr>
              <a:t>Presenter: </a:t>
            </a:r>
            <a:r>
              <a:rPr lang="en-AU" sz="1100">
                <a:solidFill>
                  <a:schemeClr val="dk1"/>
                </a:solidFill>
              </a:rPr>
              <a:t>Gavin Zhang</a:t>
            </a:r>
            <a:r>
              <a:rPr lang="en-AU" sz="1100">
                <a:solidFill>
                  <a:schemeClr val="dk1"/>
                </a:solidFill>
                <a:latin typeface="Arial"/>
                <a:ea typeface="Arial"/>
                <a:cs typeface="Arial"/>
                <a:sym typeface="Arial"/>
              </a:rPr>
              <a:t> (z</a:t>
            </a:r>
            <a:r>
              <a:rPr lang="en-AU" sz="1100">
                <a:solidFill>
                  <a:schemeClr val="dk1"/>
                </a:solidFill>
              </a:rPr>
              <a:t>5216570</a:t>
            </a:r>
            <a:r>
              <a:rPr lang="en-AU" sz="1100">
                <a:solidFill>
                  <a:schemeClr val="dk1"/>
                </a:solidFill>
                <a:latin typeface="Arial"/>
                <a:ea typeface="Arial"/>
                <a:cs typeface="Arial"/>
                <a:sym typeface="Arial"/>
              </a:rPr>
              <a:t>)</a:t>
            </a:r>
            <a:endParaRPr/>
          </a:p>
        </p:txBody>
      </p:sp>
      <p:pic>
        <p:nvPicPr>
          <p:cNvPr id="255" name="Google Shape;255;p31"/>
          <p:cNvPicPr preferRelativeResize="0"/>
          <p:nvPr/>
        </p:nvPicPr>
        <p:blipFill>
          <a:blip r:embed="rId3">
            <a:alphaModFix/>
          </a:blip>
          <a:stretch>
            <a:fillRect/>
          </a:stretch>
        </p:blipFill>
        <p:spPr>
          <a:xfrm>
            <a:off x="2296825" y="3638850"/>
            <a:ext cx="6930525" cy="2479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2"/>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Ensemble</a:t>
            </a:r>
            <a:endParaRPr/>
          </a:p>
        </p:txBody>
      </p:sp>
      <p:sp>
        <p:nvSpPr>
          <p:cNvPr id="261" name="Google Shape;261;p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262" name="Google Shape;262;p32"/>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100">
                <a:solidFill>
                  <a:schemeClr val="dk1"/>
                </a:solidFill>
                <a:latin typeface="Arial"/>
                <a:ea typeface="Arial"/>
                <a:cs typeface="Arial"/>
                <a:sym typeface="Arial"/>
              </a:rPr>
              <a:t>Presenter: </a:t>
            </a:r>
            <a:r>
              <a:rPr lang="en-AU" sz="1100">
                <a:solidFill>
                  <a:schemeClr val="dk1"/>
                </a:solidFill>
              </a:rPr>
              <a:t>Gavin Zhang</a:t>
            </a:r>
            <a:r>
              <a:rPr lang="en-AU" sz="1100">
                <a:solidFill>
                  <a:schemeClr val="dk1"/>
                </a:solidFill>
                <a:latin typeface="Arial"/>
                <a:ea typeface="Arial"/>
                <a:cs typeface="Arial"/>
                <a:sym typeface="Arial"/>
              </a:rPr>
              <a:t> (z</a:t>
            </a:r>
            <a:r>
              <a:rPr lang="en-AU" sz="1100">
                <a:solidFill>
                  <a:schemeClr val="dk1"/>
                </a:solidFill>
              </a:rPr>
              <a:t>5216570</a:t>
            </a:r>
            <a:r>
              <a:rPr lang="en-AU" sz="1100">
                <a:solidFill>
                  <a:schemeClr val="dk1"/>
                </a:solidFill>
                <a:latin typeface="Arial"/>
                <a:ea typeface="Arial"/>
                <a:cs typeface="Arial"/>
                <a:sym typeface="Arial"/>
              </a:rPr>
              <a:t>)</a:t>
            </a:r>
            <a:endParaRPr/>
          </a:p>
        </p:txBody>
      </p:sp>
      <p:sp>
        <p:nvSpPr>
          <p:cNvPr id="263" name="Google Shape;263;p32"/>
          <p:cNvSpPr txBox="1"/>
          <p:nvPr/>
        </p:nvSpPr>
        <p:spPr>
          <a:xfrm>
            <a:off x="838200" y="1133700"/>
            <a:ext cx="10515600" cy="1209000"/>
          </a:xfrm>
          <a:prstGeom prst="rect">
            <a:avLst/>
          </a:prstGeom>
          <a:noFill/>
          <a:ln>
            <a:noFill/>
          </a:ln>
        </p:spPr>
        <p:txBody>
          <a:bodyPr anchorCtr="0" anchor="t" bIns="45700" lIns="91425" spcFirstLastPara="1" rIns="91425" wrap="square" tIns="45700">
            <a:normAutofit/>
          </a:bodyPr>
          <a:lstStyle/>
          <a:p>
            <a:pPr indent="-368300" lvl="0" marL="457200" rtl="0" algn="l">
              <a:lnSpc>
                <a:spcPct val="115000"/>
              </a:lnSpc>
              <a:spcBef>
                <a:spcPts val="1000"/>
              </a:spcBef>
              <a:spcAft>
                <a:spcPts val="0"/>
              </a:spcAft>
              <a:buClr>
                <a:srgbClr val="000000"/>
              </a:buClr>
              <a:buSzPts val="2200"/>
              <a:buChar char="●"/>
            </a:pPr>
            <a:r>
              <a:rPr lang="en-AU" sz="2200">
                <a:solidFill>
                  <a:srgbClr val="000000"/>
                </a:solidFill>
              </a:rPr>
              <a:t>Combine results of deep learning models for improved segmentation results.</a:t>
            </a:r>
            <a:endParaRPr sz="2200">
              <a:solidFill>
                <a:srgbClr val="000000"/>
              </a:solidFill>
            </a:endParaRPr>
          </a:p>
          <a:p>
            <a:pPr indent="-368300" lvl="1" marL="914400" rtl="0" algn="l">
              <a:lnSpc>
                <a:spcPct val="115000"/>
              </a:lnSpc>
              <a:spcBef>
                <a:spcPts val="0"/>
              </a:spcBef>
              <a:spcAft>
                <a:spcPts val="0"/>
              </a:spcAft>
              <a:buSzPts val="2200"/>
              <a:buAutoNum type="arabicPeriod"/>
            </a:pPr>
            <a:r>
              <a:rPr lang="en-AU" sz="2200">
                <a:solidFill>
                  <a:srgbClr val="000000"/>
                </a:solidFill>
              </a:rPr>
              <a:t>Simple ensemble by averaging</a:t>
            </a:r>
            <a:endParaRPr sz="2200">
              <a:solidFill>
                <a:srgbClr val="000000"/>
              </a:solidFill>
            </a:endParaRPr>
          </a:p>
          <a:p>
            <a:pPr indent="-368300" lvl="1" marL="914400" rtl="0" algn="l">
              <a:lnSpc>
                <a:spcPct val="115000"/>
              </a:lnSpc>
              <a:spcBef>
                <a:spcPts val="0"/>
              </a:spcBef>
              <a:spcAft>
                <a:spcPts val="0"/>
              </a:spcAft>
              <a:buSzPts val="2200"/>
              <a:buAutoNum type="arabicPeriod"/>
            </a:pPr>
            <a:r>
              <a:rPr lang="en-AU" sz="2200">
                <a:solidFill>
                  <a:srgbClr val="000000"/>
                </a:solidFill>
              </a:rPr>
              <a:t>Confidence-based combination</a:t>
            </a:r>
            <a:endParaRPr sz="2200"/>
          </a:p>
        </p:txBody>
      </p:sp>
      <p:pic>
        <p:nvPicPr>
          <p:cNvPr id="264" name="Google Shape;264;p32"/>
          <p:cNvPicPr preferRelativeResize="0"/>
          <p:nvPr/>
        </p:nvPicPr>
        <p:blipFill>
          <a:blip r:embed="rId4">
            <a:alphaModFix/>
          </a:blip>
          <a:stretch>
            <a:fillRect/>
          </a:stretch>
        </p:blipFill>
        <p:spPr>
          <a:xfrm>
            <a:off x="7237175" y="3223575"/>
            <a:ext cx="4458926" cy="2850025"/>
          </a:xfrm>
          <a:prstGeom prst="rect">
            <a:avLst/>
          </a:prstGeom>
          <a:noFill/>
          <a:ln>
            <a:noFill/>
          </a:ln>
        </p:spPr>
      </p:pic>
      <p:sp>
        <p:nvSpPr>
          <p:cNvPr id="265" name="Google Shape;265;p32"/>
          <p:cNvSpPr txBox="1"/>
          <p:nvPr/>
        </p:nvSpPr>
        <p:spPr>
          <a:xfrm>
            <a:off x="789500" y="2501075"/>
            <a:ext cx="10515600" cy="1209000"/>
          </a:xfrm>
          <a:prstGeom prst="rect">
            <a:avLst/>
          </a:prstGeom>
          <a:noFill/>
          <a:ln>
            <a:noFill/>
          </a:ln>
        </p:spPr>
        <p:txBody>
          <a:bodyPr anchorCtr="0" anchor="t" bIns="45700" lIns="91425" spcFirstLastPara="1" rIns="91425" wrap="square" tIns="45700">
            <a:noAutofit/>
          </a:bodyPr>
          <a:lstStyle/>
          <a:p>
            <a:pPr indent="-368300" lvl="0" marL="457200" rtl="0" algn="l">
              <a:lnSpc>
                <a:spcPct val="95000"/>
              </a:lnSpc>
              <a:spcBef>
                <a:spcPts val="500"/>
              </a:spcBef>
              <a:spcAft>
                <a:spcPts val="0"/>
              </a:spcAft>
              <a:buClr>
                <a:schemeClr val="dk1"/>
              </a:buClr>
              <a:buSzPts val="2200"/>
              <a:buChar char="●"/>
            </a:pPr>
            <a:r>
              <a:rPr lang="en-AU" sz="2200">
                <a:solidFill>
                  <a:schemeClr val="dk1"/>
                </a:solidFill>
              </a:rPr>
              <a:t>Advantages</a:t>
            </a:r>
            <a:endParaRPr sz="2200">
              <a:solidFill>
                <a:schemeClr val="dk1"/>
              </a:solidFill>
            </a:endParaRPr>
          </a:p>
          <a:p>
            <a:pPr indent="-368300" lvl="1" marL="914400" rtl="0" algn="l">
              <a:lnSpc>
                <a:spcPct val="95000"/>
              </a:lnSpc>
              <a:spcBef>
                <a:spcPts val="0"/>
              </a:spcBef>
              <a:spcAft>
                <a:spcPts val="0"/>
              </a:spcAft>
              <a:buClr>
                <a:schemeClr val="dk1"/>
              </a:buClr>
              <a:buSzPts val="2200"/>
              <a:buChar char="○"/>
            </a:pPr>
            <a:r>
              <a:rPr lang="en-AU" sz="2200">
                <a:solidFill>
                  <a:schemeClr val="dk1"/>
                </a:solidFill>
              </a:rPr>
              <a:t>Leverages deep learning models trained for the task</a:t>
            </a:r>
            <a:endParaRPr sz="2200">
              <a:solidFill>
                <a:schemeClr val="dk1"/>
              </a:solidFill>
            </a:endParaRPr>
          </a:p>
          <a:p>
            <a:pPr indent="-368300" lvl="1" marL="914400" rtl="0" algn="l">
              <a:lnSpc>
                <a:spcPct val="95000"/>
              </a:lnSpc>
              <a:spcBef>
                <a:spcPts val="0"/>
              </a:spcBef>
              <a:spcAft>
                <a:spcPts val="0"/>
              </a:spcAft>
              <a:buClr>
                <a:schemeClr val="dk1"/>
              </a:buClr>
              <a:buSzPts val="2200"/>
              <a:buChar char="○"/>
            </a:pPr>
            <a:r>
              <a:rPr lang="en-AU" sz="2200">
                <a:solidFill>
                  <a:schemeClr val="dk1"/>
                </a:solidFill>
              </a:rPr>
              <a:t>Low computational cost</a:t>
            </a:r>
            <a:endParaRPr sz="2200">
              <a:solidFill>
                <a:schemeClr val="dk1"/>
              </a:solidFill>
            </a:endParaRPr>
          </a:p>
          <a:p>
            <a:pPr indent="-368300" lvl="1" marL="914400" rtl="0" algn="l">
              <a:lnSpc>
                <a:spcPct val="95000"/>
              </a:lnSpc>
              <a:spcBef>
                <a:spcPts val="0"/>
              </a:spcBef>
              <a:spcAft>
                <a:spcPts val="0"/>
              </a:spcAft>
              <a:buClr>
                <a:schemeClr val="dk1"/>
              </a:buClr>
              <a:buSzPts val="2200"/>
              <a:buChar char="○"/>
            </a:pPr>
            <a:r>
              <a:rPr lang="en-AU" sz="2200">
                <a:solidFill>
                  <a:schemeClr val="dk1"/>
                </a:solidFill>
              </a:rPr>
              <a:t>Easily expandable</a:t>
            </a:r>
            <a:endParaRPr sz="2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3"/>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Results</a:t>
            </a:r>
            <a:endParaRPr/>
          </a:p>
        </p:txBody>
      </p:sp>
      <p:sp>
        <p:nvSpPr>
          <p:cNvPr id="271" name="Google Shape;271;p33"/>
          <p:cNvSpPr txBox="1"/>
          <p:nvPr>
            <p:ph idx="1" type="body"/>
          </p:nvPr>
        </p:nvSpPr>
        <p:spPr>
          <a:xfrm>
            <a:off x="4778400" y="687975"/>
            <a:ext cx="2635200" cy="555900"/>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Clr>
                <a:schemeClr val="dk1"/>
              </a:buClr>
              <a:buSzPct val="33333"/>
              <a:buFont typeface="Arial"/>
              <a:buNone/>
            </a:pPr>
            <a:r>
              <a:rPr lang="en-AU" sz="3300"/>
              <a:t>Classification</a:t>
            </a:r>
            <a:endParaRPr sz="3300"/>
          </a:p>
        </p:txBody>
      </p:sp>
      <p:sp>
        <p:nvSpPr>
          <p:cNvPr id="272" name="Google Shape;272;p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273" name="Google Shape;273;p33"/>
          <p:cNvSpPr txBox="1"/>
          <p:nvPr/>
        </p:nvSpPr>
        <p:spPr>
          <a:xfrm>
            <a:off x="119743" y="6225545"/>
            <a:ext cx="73260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1100">
                <a:solidFill>
                  <a:schemeClr val="dk1"/>
                </a:solidFill>
                <a:latin typeface="Arial"/>
                <a:ea typeface="Arial"/>
                <a:cs typeface="Arial"/>
                <a:sym typeface="Arial"/>
              </a:rPr>
              <a:t>Presenter: </a:t>
            </a:r>
            <a:r>
              <a:rPr lang="en-AU" sz="1100">
                <a:solidFill>
                  <a:schemeClr val="dk1"/>
                </a:solidFill>
              </a:rPr>
              <a:t>Sashank Vermani (z5424501)</a:t>
            </a:r>
            <a:endParaRPr sz="1100">
              <a:solidFill>
                <a:schemeClr val="dk1"/>
              </a:solidFill>
            </a:endParaRPr>
          </a:p>
          <a:p>
            <a:pPr indent="0" lvl="0" marL="0" marR="0" rtl="0" algn="l">
              <a:spcBef>
                <a:spcPts val="0"/>
              </a:spcBef>
              <a:spcAft>
                <a:spcPts val="0"/>
              </a:spcAft>
              <a:buNone/>
            </a:pPr>
            <a:r>
              <a:t/>
            </a:r>
            <a:endParaRPr sz="1100">
              <a:solidFill>
                <a:schemeClr val="dk1"/>
              </a:solidFill>
            </a:endParaRPr>
          </a:p>
        </p:txBody>
      </p:sp>
      <p:pic>
        <p:nvPicPr>
          <p:cNvPr id="274" name="Google Shape;274;p33" title="Validation F1 score vs Model"/>
          <p:cNvPicPr preferRelativeResize="0"/>
          <p:nvPr/>
        </p:nvPicPr>
        <p:blipFill>
          <a:blip r:embed="rId3">
            <a:alphaModFix/>
          </a:blip>
          <a:stretch>
            <a:fillRect/>
          </a:stretch>
        </p:blipFill>
        <p:spPr>
          <a:xfrm>
            <a:off x="8088813" y="687971"/>
            <a:ext cx="3786774" cy="5015275"/>
          </a:xfrm>
          <a:prstGeom prst="rect">
            <a:avLst/>
          </a:prstGeom>
          <a:noFill/>
          <a:ln>
            <a:noFill/>
          </a:ln>
          <a:effectLst>
            <a:outerShdw blurRad="57150" rotWithShape="0" algn="bl" dir="5400000" dist="19050">
              <a:srgbClr val="000000">
                <a:alpha val="50000"/>
              </a:srgbClr>
            </a:outerShdw>
          </a:effectLst>
        </p:spPr>
      </p:pic>
      <p:pic>
        <p:nvPicPr>
          <p:cNvPr id="275" name="Google Shape;275;p33"/>
          <p:cNvPicPr preferRelativeResize="0"/>
          <p:nvPr/>
        </p:nvPicPr>
        <p:blipFill rotWithShape="1">
          <a:blip r:embed="rId4">
            <a:alphaModFix/>
          </a:blip>
          <a:srcRect b="5816" l="24943" r="15511" t="5781"/>
          <a:stretch/>
        </p:blipFill>
        <p:spPr>
          <a:xfrm>
            <a:off x="446474" y="1619774"/>
            <a:ext cx="3448850" cy="2727025"/>
          </a:xfrm>
          <a:prstGeom prst="rect">
            <a:avLst/>
          </a:prstGeom>
          <a:noFill/>
          <a:ln>
            <a:noFill/>
          </a:ln>
        </p:spPr>
      </p:pic>
      <p:sp>
        <p:nvSpPr>
          <p:cNvPr id="276" name="Google Shape;276;p33"/>
          <p:cNvSpPr txBox="1"/>
          <p:nvPr/>
        </p:nvSpPr>
        <p:spPr>
          <a:xfrm>
            <a:off x="1636325" y="4636288"/>
            <a:ext cx="948000" cy="28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AU" sz="1200">
                <a:solidFill>
                  <a:schemeClr val="dk1"/>
                </a:solidFill>
                <a:latin typeface="Calibri"/>
                <a:ea typeface="Calibri"/>
                <a:cs typeface="Calibri"/>
                <a:sym typeface="Calibri"/>
              </a:rPr>
              <a:t>VGG-19</a:t>
            </a:r>
            <a:endParaRPr sz="1200">
              <a:solidFill>
                <a:schemeClr val="dk1"/>
              </a:solidFill>
              <a:latin typeface="Calibri"/>
              <a:ea typeface="Calibri"/>
              <a:cs typeface="Calibri"/>
              <a:sym typeface="Calibri"/>
            </a:endParaRPr>
          </a:p>
        </p:txBody>
      </p:sp>
      <p:pic>
        <p:nvPicPr>
          <p:cNvPr id="277" name="Google Shape;277;p33"/>
          <p:cNvPicPr preferRelativeResize="0"/>
          <p:nvPr/>
        </p:nvPicPr>
        <p:blipFill>
          <a:blip r:embed="rId5">
            <a:alphaModFix/>
          </a:blip>
          <a:stretch>
            <a:fillRect/>
          </a:stretch>
        </p:blipFill>
        <p:spPr>
          <a:xfrm>
            <a:off x="4223949" y="1625025"/>
            <a:ext cx="3318850" cy="2727025"/>
          </a:xfrm>
          <a:prstGeom prst="rect">
            <a:avLst/>
          </a:prstGeom>
          <a:noFill/>
          <a:ln>
            <a:noFill/>
          </a:ln>
        </p:spPr>
      </p:pic>
      <p:sp>
        <p:nvSpPr>
          <p:cNvPr id="278" name="Google Shape;278;p33"/>
          <p:cNvSpPr txBox="1"/>
          <p:nvPr/>
        </p:nvSpPr>
        <p:spPr>
          <a:xfrm>
            <a:off x="5246188" y="4570838"/>
            <a:ext cx="903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AU" sz="1200">
                <a:solidFill>
                  <a:schemeClr val="dk1"/>
                </a:solidFill>
                <a:latin typeface="Calibri"/>
                <a:ea typeface="Calibri"/>
                <a:cs typeface="Calibri"/>
                <a:sym typeface="Calibri"/>
              </a:rPr>
              <a:t>ResNet50</a:t>
            </a:r>
            <a:endParaRPr sz="1200">
              <a:solidFill>
                <a:schemeClr val="dk1"/>
              </a:solidFill>
              <a:latin typeface="Calibri"/>
              <a:ea typeface="Calibri"/>
              <a:cs typeface="Calibri"/>
              <a:sym typeface="Calibri"/>
            </a:endParaRPr>
          </a:p>
        </p:txBody>
      </p:sp>
      <p:sp>
        <p:nvSpPr>
          <p:cNvPr id="279" name="Google Shape;279;p33"/>
          <p:cNvSpPr txBox="1"/>
          <p:nvPr/>
        </p:nvSpPr>
        <p:spPr>
          <a:xfrm>
            <a:off x="231650" y="5208675"/>
            <a:ext cx="8379000" cy="923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dk1"/>
              </a:buClr>
              <a:buSzPts val="1600"/>
              <a:buFont typeface="Calibri"/>
              <a:buChar char="●"/>
            </a:pPr>
            <a:r>
              <a:rPr lang="en-AU" sz="1600">
                <a:solidFill>
                  <a:schemeClr val="dk1"/>
                </a:solidFill>
                <a:latin typeface="Calibri"/>
                <a:ea typeface="Calibri"/>
                <a:cs typeface="Calibri"/>
                <a:sym typeface="Calibri"/>
              </a:rPr>
              <a:t>F1 score was selected as it provides a robust validation metric that focuses on balances precision and recall making it an all rounder for evaluating overall performance. </a:t>
            </a:r>
            <a:endParaRPr sz="1600">
              <a:solidFill>
                <a:schemeClr val="dk1"/>
              </a:solidFill>
              <a:latin typeface="Calibri"/>
              <a:ea typeface="Calibri"/>
              <a:cs typeface="Calibri"/>
              <a:sym typeface="Calibri"/>
            </a:endParaRPr>
          </a:p>
          <a:p>
            <a:pPr indent="-330200" lvl="0" marL="457200" rtl="0" algn="l">
              <a:spcBef>
                <a:spcPts val="0"/>
              </a:spcBef>
              <a:spcAft>
                <a:spcPts val="0"/>
              </a:spcAft>
              <a:buClr>
                <a:schemeClr val="dk1"/>
              </a:buClr>
              <a:buSzPts val="1600"/>
              <a:buFont typeface="Calibri"/>
              <a:buChar char="●"/>
            </a:pPr>
            <a:r>
              <a:rPr lang="en-AU" sz="1600">
                <a:solidFill>
                  <a:schemeClr val="dk1"/>
                </a:solidFill>
                <a:latin typeface="Calibri"/>
                <a:ea typeface="Calibri"/>
                <a:cs typeface="Calibri"/>
                <a:sym typeface="Calibri"/>
              </a:rPr>
              <a:t>We also have the confusion matrix which shows how well the model performed.</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4"/>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lang="en-AU"/>
              <a:t>Results</a:t>
            </a:r>
            <a:endParaRPr/>
          </a:p>
        </p:txBody>
      </p:sp>
      <p:sp>
        <p:nvSpPr>
          <p:cNvPr id="285" name="Google Shape;285;p34"/>
          <p:cNvSpPr txBox="1"/>
          <p:nvPr>
            <p:ph idx="1" type="body"/>
          </p:nvPr>
        </p:nvSpPr>
        <p:spPr>
          <a:xfrm>
            <a:off x="231648" y="975360"/>
            <a:ext cx="11631300" cy="5035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p>
          <a:p>
            <a:pPr indent="0" lvl="0" marL="457200" rtl="0" algn="l">
              <a:spcBef>
                <a:spcPts val="0"/>
              </a:spcBef>
              <a:spcAft>
                <a:spcPts val="0"/>
              </a:spcAft>
              <a:buNone/>
            </a:pPr>
            <a:r>
              <a:t/>
            </a:r>
            <a:endParaRPr>
              <a:solidFill>
                <a:srgbClr val="1F1F1F"/>
              </a:solidFill>
              <a:highlight>
                <a:srgbClr val="FFFFFF"/>
              </a:highlight>
              <a:latin typeface="Roboto"/>
              <a:ea typeface="Roboto"/>
              <a:cs typeface="Roboto"/>
              <a:sym typeface="Roboto"/>
            </a:endParaRPr>
          </a:p>
          <a:p>
            <a:pPr indent="-406400" lvl="0" marL="457200" rtl="0" algn="l">
              <a:spcBef>
                <a:spcPts val="0"/>
              </a:spcBef>
              <a:spcAft>
                <a:spcPts val="0"/>
              </a:spcAft>
              <a:buSzPts val="2800"/>
              <a:buChar char="•"/>
            </a:pPr>
            <a:r>
              <a:rPr lang="en-AU">
                <a:solidFill>
                  <a:srgbClr val="1F1F1F"/>
                </a:solidFill>
                <a:highlight>
                  <a:srgbClr val="FFFFFF"/>
                </a:highlight>
                <a:latin typeface="Roboto"/>
                <a:ea typeface="Roboto"/>
                <a:cs typeface="Roboto"/>
                <a:sym typeface="Roboto"/>
              </a:rPr>
              <a:t>VGG-19</a:t>
            </a:r>
            <a:r>
              <a:rPr lang="en-AU"/>
              <a:t> has a higher validation F1 score than </a:t>
            </a:r>
            <a:r>
              <a:rPr lang="en-AU">
                <a:latin typeface="Calibri"/>
                <a:ea typeface="Calibri"/>
                <a:cs typeface="Calibri"/>
                <a:sym typeface="Calibri"/>
              </a:rPr>
              <a:t>ResNet50</a:t>
            </a:r>
            <a:r>
              <a:rPr lang="en-AU"/>
              <a:t>, indicating slightly better performance.</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Char char="•"/>
            </a:pPr>
            <a:r>
              <a:rPr lang="en-AU"/>
              <a:t>The difference in F1 scores (0.0104) shows both models perform similarly, but </a:t>
            </a:r>
            <a:r>
              <a:rPr lang="en-AU">
                <a:solidFill>
                  <a:srgbClr val="1F1F1F"/>
                </a:solidFill>
                <a:highlight>
                  <a:srgbClr val="FFFFFF"/>
                </a:highlight>
                <a:latin typeface="Roboto"/>
                <a:ea typeface="Roboto"/>
                <a:cs typeface="Roboto"/>
                <a:sym typeface="Roboto"/>
              </a:rPr>
              <a:t>VGG-19</a:t>
            </a:r>
            <a:r>
              <a:rPr lang="en-AU"/>
              <a:t> is </a:t>
            </a:r>
            <a:r>
              <a:rPr lang="en-AU"/>
              <a:t>slightly</a:t>
            </a:r>
            <a:r>
              <a:rPr lang="en-AU"/>
              <a:t> better.</a:t>
            </a:r>
            <a:endParaRPr/>
          </a:p>
          <a:p>
            <a:pPr indent="0" lvl="0" marL="457200" rtl="0" algn="l">
              <a:spcBef>
                <a:spcPts val="0"/>
              </a:spcBef>
              <a:spcAft>
                <a:spcPts val="0"/>
              </a:spcAft>
              <a:buNone/>
            </a:pPr>
            <a:r>
              <a:t/>
            </a:r>
            <a:endParaRPr/>
          </a:p>
          <a:p>
            <a:pPr indent="-406400" lvl="0" marL="457200" rtl="0" algn="l">
              <a:lnSpc>
                <a:spcPct val="90000"/>
              </a:lnSpc>
              <a:spcBef>
                <a:spcPts val="0"/>
              </a:spcBef>
              <a:spcAft>
                <a:spcPts val="0"/>
              </a:spcAft>
              <a:buSzPts val="2800"/>
              <a:buChar char="•"/>
            </a:pPr>
            <a:r>
              <a:rPr lang="en-AU">
                <a:solidFill>
                  <a:srgbClr val="1F1F1F"/>
                </a:solidFill>
                <a:highlight>
                  <a:srgbClr val="FFFFFF"/>
                </a:highlight>
                <a:latin typeface="Roboto"/>
                <a:ea typeface="Roboto"/>
                <a:cs typeface="Roboto"/>
                <a:sym typeface="Roboto"/>
              </a:rPr>
              <a:t>VGG-19</a:t>
            </a:r>
            <a:r>
              <a:rPr lang="en-AU"/>
              <a:t> is the preferred choice due to its higher validation performance.</a:t>
            </a:r>
            <a:endParaRPr/>
          </a:p>
          <a:p>
            <a:pPr indent="0" lvl="0" marL="0" rtl="0" algn="l">
              <a:lnSpc>
                <a:spcPct val="90000"/>
              </a:lnSpc>
              <a:spcBef>
                <a:spcPts val="0"/>
              </a:spcBef>
              <a:spcAft>
                <a:spcPts val="0"/>
              </a:spcAft>
              <a:buNone/>
            </a:pPr>
            <a:r>
              <a:t/>
            </a:r>
            <a:endParaRPr/>
          </a:p>
        </p:txBody>
      </p:sp>
      <p:sp>
        <p:nvSpPr>
          <p:cNvPr id="286" name="Google Shape;286;p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287" name="Google Shape;287;p34"/>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AU" sz="1100">
                <a:solidFill>
                  <a:schemeClr val="dk1"/>
                </a:solidFill>
              </a:rPr>
              <a:t>Presenter: Sashank Vermani (z5424501)</a:t>
            </a:r>
            <a:endParaRPr sz="1100">
              <a:solidFill>
                <a:schemeClr val="dk1"/>
              </a:solidFill>
            </a:endParaRPr>
          </a:p>
        </p:txBody>
      </p:sp>
      <p:sp>
        <p:nvSpPr>
          <p:cNvPr id="288" name="Google Shape;288;p34"/>
          <p:cNvSpPr txBox="1"/>
          <p:nvPr>
            <p:ph idx="1" type="body"/>
          </p:nvPr>
        </p:nvSpPr>
        <p:spPr>
          <a:xfrm>
            <a:off x="4008650" y="975350"/>
            <a:ext cx="4077300" cy="555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AU" sz="3050"/>
              <a:t>Classification </a:t>
            </a:r>
            <a:r>
              <a:rPr lang="en-AU" sz="3050"/>
              <a:t>Analysis</a:t>
            </a:r>
            <a:endParaRPr sz="305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5"/>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lang="en-AU"/>
              <a:t>Results Analysis</a:t>
            </a:r>
            <a:endParaRPr/>
          </a:p>
        </p:txBody>
      </p:sp>
      <p:sp>
        <p:nvSpPr>
          <p:cNvPr id="294" name="Google Shape;294;p35"/>
          <p:cNvSpPr txBox="1"/>
          <p:nvPr>
            <p:ph idx="1" type="body"/>
          </p:nvPr>
        </p:nvSpPr>
        <p:spPr>
          <a:xfrm>
            <a:off x="4778400" y="1005950"/>
            <a:ext cx="2635200" cy="555900"/>
          </a:xfrm>
          <a:prstGeom prst="rect">
            <a:avLst/>
          </a:prstGeom>
          <a:noFill/>
          <a:ln>
            <a:noFill/>
          </a:ln>
        </p:spPr>
        <p:txBody>
          <a:bodyPr anchorCtr="0" anchor="t" bIns="45700" lIns="91425" spcFirstLastPara="1" rIns="91425" wrap="square" tIns="45700">
            <a:normAutofit fontScale="92500"/>
          </a:bodyPr>
          <a:lstStyle/>
          <a:p>
            <a:pPr indent="0" lvl="0" marL="0" rtl="0" algn="l">
              <a:spcBef>
                <a:spcPts val="0"/>
              </a:spcBef>
              <a:spcAft>
                <a:spcPts val="0"/>
              </a:spcAft>
              <a:buNone/>
            </a:pPr>
            <a:r>
              <a:rPr lang="en-AU" sz="3300"/>
              <a:t>Segmentation</a:t>
            </a:r>
            <a:endParaRPr sz="3300"/>
          </a:p>
        </p:txBody>
      </p:sp>
      <p:sp>
        <p:nvSpPr>
          <p:cNvPr id="295" name="Google Shape;295;p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296" name="Google Shape;296;p35"/>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AU" sz="1100">
                <a:solidFill>
                  <a:schemeClr val="dk1"/>
                </a:solidFill>
              </a:rPr>
              <a:t>Presenter: Sashank Vermani (z5424501)</a:t>
            </a:r>
            <a:endParaRPr sz="1100">
              <a:solidFill>
                <a:schemeClr val="dk1"/>
              </a:solidFill>
            </a:endParaRPr>
          </a:p>
        </p:txBody>
      </p:sp>
      <p:sp>
        <p:nvSpPr>
          <p:cNvPr id="297" name="Google Shape;297;p35"/>
          <p:cNvSpPr txBox="1"/>
          <p:nvPr/>
        </p:nvSpPr>
        <p:spPr>
          <a:xfrm>
            <a:off x="7203750" y="2218225"/>
            <a:ext cx="4490700" cy="1431600"/>
          </a:xfrm>
          <a:prstGeom prst="rect">
            <a:avLst/>
          </a:prstGeom>
          <a:noFill/>
          <a:ln>
            <a:noFill/>
          </a:ln>
        </p:spPr>
        <p:txBody>
          <a:bodyPr anchorCtr="0" anchor="t" bIns="91425" lIns="91425" spcFirstLastPara="1" rIns="91425" wrap="square" tIns="91425">
            <a:spAutoFit/>
          </a:bodyPr>
          <a:lstStyle/>
          <a:p>
            <a:pPr indent="-342900" lvl="0" marL="457200" rtl="0" algn="l">
              <a:lnSpc>
                <a:spcPct val="90000"/>
              </a:lnSpc>
              <a:spcBef>
                <a:spcPts val="1000"/>
              </a:spcBef>
              <a:spcAft>
                <a:spcPts val="0"/>
              </a:spcAft>
              <a:buClr>
                <a:schemeClr val="dk1"/>
              </a:buClr>
              <a:buSzPts val="1800"/>
              <a:buChar char="●"/>
            </a:pPr>
            <a:r>
              <a:rPr lang="en-AU" sz="1800">
                <a:solidFill>
                  <a:schemeClr val="dk1"/>
                </a:solidFill>
              </a:rPr>
              <a:t>While there are many, we chose IoU (Intersection over Union) as it is the most interpretable one.</a:t>
            </a:r>
            <a:endParaRPr sz="1800">
              <a:solidFill>
                <a:schemeClr val="dk1"/>
              </a:solidFill>
            </a:endParaRPr>
          </a:p>
          <a:p>
            <a:pPr indent="-342900" lvl="0" marL="457200" rtl="0" algn="l">
              <a:lnSpc>
                <a:spcPct val="90000"/>
              </a:lnSpc>
              <a:spcBef>
                <a:spcPts val="0"/>
              </a:spcBef>
              <a:spcAft>
                <a:spcPts val="0"/>
              </a:spcAft>
              <a:buClr>
                <a:schemeClr val="dk1"/>
              </a:buClr>
              <a:buSzPts val="1800"/>
              <a:buChar char="●"/>
            </a:pPr>
            <a:r>
              <a:rPr lang="en-AU" sz="1800">
                <a:solidFill>
                  <a:schemeClr val="dk1"/>
                </a:solidFill>
              </a:rPr>
              <a:t>We did not plot the traditional ml IoU results as they are close to 0.</a:t>
            </a:r>
            <a:endParaRPr sz="1800">
              <a:solidFill>
                <a:schemeClr val="dk1"/>
              </a:solidFill>
            </a:endParaRPr>
          </a:p>
        </p:txBody>
      </p:sp>
      <p:pic>
        <p:nvPicPr>
          <p:cNvPr id="298" name="Google Shape;298;p35"/>
          <p:cNvPicPr preferRelativeResize="0"/>
          <p:nvPr/>
        </p:nvPicPr>
        <p:blipFill>
          <a:blip r:embed="rId3">
            <a:alphaModFix/>
          </a:blip>
          <a:stretch>
            <a:fillRect/>
          </a:stretch>
        </p:blipFill>
        <p:spPr>
          <a:xfrm>
            <a:off x="750081" y="1561850"/>
            <a:ext cx="5510999" cy="4386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6"/>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Arial"/>
              <a:buNone/>
            </a:pPr>
            <a:r>
              <a:rPr lang="en-AU"/>
              <a:t>Results Analysis</a:t>
            </a:r>
            <a:endParaRPr/>
          </a:p>
        </p:txBody>
      </p:sp>
      <p:sp>
        <p:nvSpPr>
          <p:cNvPr id="304" name="Google Shape;304;p36"/>
          <p:cNvSpPr txBox="1"/>
          <p:nvPr>
            <p:ph idx="1" type="body"/>
          </p:nvPr>
        </p:nvSpPr>
        <p:spPr>
          <a:xfrm>
            <a:off x="231648" y="975360"/>
            <a:ext cx="11631300" cy="50352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t/>
            </a:r>
            <a:endParaRPr sz="2000"/>
          </a:p>
          <a:p>
            <a:pPr indent="-355600" lvl="0" marL="457200" rtl="0" algn="l">
              <a:lnSpc>
                <a:spcPct val="115000"/>
              </a:lnSpc>
              <a:spcBef>
                <a:spcPts val="1200"/>
              </a:spcBef>
              <a:spcAft>
                <a:spcPts val="0"/>
              </a:spcAft>
              <a:buSzPts val="2000"/>
              <a:buChar char="●"/>
            </a:pPr>
            <a:r>
              <a:rPr lang="en-AU" sz="2000"/>
              <a:t>Ensemble shows the strongest performance with an IoU of 0.645, demonstrating the advantages of model combination</a:t>
            </a:r>
            <a:endParaRPr sz="2000"/>
          </a:p>
          <a:p>
            <a:pPr indent="-355600" lvl="0" marL="457200" rtl="0" algn="l">
              <a:lnSpc>
                <a:spcPct val="115000"/>
              </a:lnSpc>
              <a:spcBef>
                <a:spcPts val="0"/>
              </a:spcBef>
              <a:spcAft>
                <a:spcPts val="0"/>
              </a:spcAft>
              <a:buSzPts val="2000"/>
              <a:buChar char="●"/>
            </a:pPr>
            <a:r>
              <a:rPr lang="en-AU" sz="2000"/>
              <a:t>DeepLabv3 achieves a solid IoU of 0.617, making it the best performing single model in our tests</a:t>
            </a:r>
            <a:endParaRPr sz="2000"/>
          </a:p>
          <a:p>
            <a:pPr indent="-355600" lvl="0" marL="457200" rtl="0" algn="l">
              <a:lnSpc>
                <a:spcPct val="115000"/>
              </a:lnSpc>
              <a:spcBef>
                <a:spcPts val="0"/>
              </a:spcBef>
              <a:spcAft>
                <a:spcPts val="0"/>
              </a:spcAft>
              <a:buSzPts val="2000"/>
              <a:buChar char="●"/>
            </a:pPr>
            <a:r>
              <a:rPr lang="en-AU" sz="2000"/>
              <a:t>The standard UNet maintains reasonable performance with an IoU of 0.528, providing a stable baseline</a:t>
            </a:r>
            <a:endParaRPr sz="2000"/>
          </a:p>
          <a:p>
            <a:pPr indent="-355600" lvl="0" marL="457200" rtl="0" algn="l">
              <a:lnSpc>
                <a:spcPct val="115000"/>
              </a:lnSpc>
              <a:spcBef>
                <a:spcPts val="0"/>
              </a:spcBef>
              <a:spcAft>
                <a:spcPts val="0"/>
              </a:spcAft>
              <a:buSzPts val="2000"/>
              <a:buChar char="●"/>
            </a:pPr>
            <a:r>
              <a:rPr lang="en-AU" sz="2000"/>
              <a:t>Surprisingly, the Combined approach shows underwhelming results with an IoU of 0.488, performing the lowest among all methods</a:t>
            </a:r>
            <a:endParaRPr sz="2000"/>
          </a:p>
          <a:p>
            <a:pPr indent="-355600" lvl="0" marL="457200" rtl="0" algn="l">
              <a:lnSpc>
                <a:spcPct val="115000"/>
              </a:lnSpc>
              <a:spcBef>
                <a:spcPts val="0"/>
              </a:spcBef>
              <a:spcAft>
                <a:spcPts val="0"/>
              </a:spcAft>
              <a:buSzPts val="2000"/>
              <a:buChar char="●"/>
            </a:pPr>
            <a:r>
              <a:rPr lang="en-AU" sz="2000"/>
              <a:t>The results highlight the effectiveness of ensemble learning while indicating that not all combination strategies yield improved results. This provides clear direction for future model selection and optimization efforts.</a:t>
            </a:r>
            <a:endParaRPr sz="2000"/>
          </a:p>
        </p:txBody>
      </p:sp>
      <p:sp>
        <p:nvSpPr>
          <p:cNvPr id="305" name="Google Shape;305;p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306" name="Google Shape;306;p36"/>
          <p:cNvSpPr txBox="1"/>
          <p:nvPr/>
        </p:nvSpPr>
        <p:spPr>
          <a:xfrm>
            <a:off x="119743" y="6225545"/>
            <a:ext cx="7326000" cy="430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Font typeface="Arial"/>
              <a:buNone/>
            </a:pPr>
            <a:r>
              <a:rPr lang="en-AU" sz="1100">
                <a:solidFill>
                  <a:schemeClr val="dk1"/>
                </a:solidFill>
              </a:rPr>
              <a:t>Presenter: Sashank Vermani (z5424501)</a:t>
            </a:r>
            <a:endParaRPr sz="1100">
              <a:solidFill>
                <a:schemeClr val="dk1"/>
              </a:solidFill>
            </a:endParaRPr>
          </a:p>
          <a:p>
            <a:pPr indent="0" lvl="0" marL="0" marR="0" rtl="0" algn="l">
              <a:spcBef>
                <a:spcPts val="0"/>
              </a:spcBef>
              <a:spcAft>
                <a:spcPts val="0"/>
              </a:spcAft>
              <a:buNone/>
            </a:pPr>
            <a:r>
              <a:t/>
            </a:r>
            <a:endParaRPr sz="1100">
              <a:solidFill>
                <a:schemeClr val="dk1"/>
              </a:solidFill>
            </a:endParaRPr>
          </a:p>
        </p:txBody>
      </p:sp>
      <p:sp>
        <p:nvSpPr>
          <p:cNvPr id="307" name="Google Shape;307;p36"/>
          <p:cNvSpPr txBox="1"/>
          <p:nvPr>
            <p:ph idx="1" type="body"/>
          </p:nvPr>
        </p:nvSpPr>
        <p:spPr>
          <a:xfrm>
            <a:off x="3979400" y="975350"/>
            <a:ext cx="4135800" cy="5559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AU" sz="3050"/>
              <a:t>Segmentation </a:t>
            </a:r>
            <a:r>
              <a:rPr lang="en-AU" sz="3050"/>
              <a:t>Analysis</a:t>
            </a:r>
            <a:endParaRPr sz="305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7"/>
          <p:cNvSpPr txBox="1"/>
          <p:nvPr>
            <p:ph type="title"/>
          </p:nvPr>
        </p:nvSpPr>
        <p:spPr>
          <a:xfrm>
            <a:off x="231648" y="136525"/>
            <a:ext cx="11631168" cy="83883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Next Steps</a:t>
            </a:r>
            <a:endParaRPr/>
          </a:p>
        </p:txBody>
      </p:sp>
      <p:sp>
        <p:nvSpPr>
          <p:cNvPr id="313" name="Google Shape;313;p37"/>
          <p:cNvSpPr txBox="1"/>
          <p:nvPr>
            <p:ph idx="1" type="body"/>
          </p:nvPr>
        </p:nvSpPr>
        <p:spPr>
          <a:xfrm>
            <a:off x="231648" y="975360"/>
            <a:ext cx="11631168" cy="5035296"/>
          </a:xfrm>
          <a:prstGeom prst="rect">
            <a:avLst/>
          </a:prstGeom>
          <a:noFill/>
          <a:ln>
            <a:noFill/>
          </a:ln>
        </p:spPr>
        <p:txBody>
          <a:bodyPr anchorCtr="0" anchor="t" bIns="45700" lIns="91425" spcFirstLastPara="1" rIns="91425" wrap="square" tIns="45700">
            <a:normAutofit/>
          </a:bodyPr>
          <a:lstStyle/>
          <a:p>
            <a:pPr indent="-406400" lvl="0" marL="457200" rtl="0" algn="l">
              <a:lnSpc>
                <a:spcPct val="90000"/>
              </a:lnSpc>
              <a:spcBef>
                <a:spcPts val="0"/>
              </a:spcBef>
              <a:spcAft>
                <a:spcPts val="0"/>
              </a:spcAft>
              <a:buSzPts val="2800"/>
              <a:buChar char="●"/>
            </a:pPr>
            <a:r>
              <a:rPr lang="en-AU"/>
              <a:t>Improvement in Classification:</a:t>
            </a:r>
            <a:endParaRPr/>
          </a:p>
          <a:p>
            <a:pPr indent="-355600" lvl="1" marL="914400" rtl="0" algn="l">
              <a:lnSpc>
                <a:spcPct val="90000"/>
              </a:lnSpc>
              <a:spcBef>
                <a:spcPts val="0"/>
              </a:spcBef>
              <a:spcAft>
                <a:spcPts val="0"/>
              </a:spcAft>
              <a:buSzPts val="2000"/>
              <a:buChar char="○"/>
            </a:pPr>
            <a:r>
              <a:rPr lang="en-AU" sz="2000"/>
              <a:t>Maintain current approach, as our classification meets requirements.</a:t>
            </a:r>
            <a:endParaRPr sz="2000"/>
          </a:p>
          <a:p>
            <a:pPr indent="0" lvl="0" marL="914400" rtl="0" algn="l">
              <a:lnSpc>
                <a:spcPct val="90000"/>
              </a:lnSpc>
              <a:spcBef>
                <a:spcPts val="0"/>
              </a:spcBef>
              <a:spcAft>
                <a:spcPts val="0"/>
              </a:spcAft>
              <a:buNone/>
            </a:pPr>
            <a:r>
              <a:t/>
            </a:r>
            <a:endParaRPr/>
          </a:p>
          <a:p>
            <a:pPr indent="-406400" lvl="0" marL="457200" rtl="0" algn="l">
              <a:lnSpc>
                <a:spcPct val="90000"/>
              </a:lnSpc>
              <a:spcBef>
                <a:spcPts val="0"/>
              </a:spcBef>
              <a:spcAft>
                <a:spcPts val="0"/>
              </a:spcAft>
              <a:buSzPts val="2800"/>
              <a:buChar char="●"/>
            </a:pPr>
            <a:r>
              <a:rPr lang="en-AU"/>
              <a:t>Enhancement in Segmentation:</a:t>
            </a:r>
            <a:endParaRPr/>
          </a:p>
          <a:p>
            <a:pPr indent="-355600" lvl="1" marL="914400" rtl="0" algn="l">
              <a:lnSpc>
                <a:spcPct val="90000"/>
              </a:lnSpc>
              <a:spcBef>
                <a:spcPts val="0"/>
              </a:spcBef>
              <a:spcAft>
                <a:spcPts val="0"/>
              </a:spcAft>
              <a:buSzPts val="2000"/>
              <a:buChar char="○"/>
            </a:pPr>
            <a:r>
              <a:rPr lang="en-AU" sz="2000"/>
              <a:t>Integrate DeepLabv3+ for more precise segmentation outcomes.</a:t>
            </a:r>
            <a:endParaRPr sz="2000"/>
          </a:p>
          <a:p>
            <a:pPr indent="-355600" lvl="1" marL="914400" rtl="0" algn="l">
              <a:lnSpc>
                <a:spcPct val="90000"/>
              </a:lnSpc>
              <a:spcBef>
                <a:spcPts val="0"/>
              </a:spcBef>
              <a:spcAft>
                <a:spcPts val="0"/>
              </a:spcAft>
              <a:buSzPts val="2000"/>
              <a:buChar char="○"/>
            </a:pPr>
            <a:r>
              <a:rPr lang="en-AU" sz="2000"/>
              <a:t>Explore advanced segmentation methods to refine model accuracy</a:t>
            </a:r>
            <a:r>
              <a:rPr lang="en-AU" sz="2000"/>
              <a:t>.</a:t>
            </a:r>
            <a:endParaRPr sz="2000"/>
          </a:p>
          <a:p>
            <a:pPr indent="0" lvl="0" marL="914400" rtl="0" algn="l">
              <a:lnSpc>
                <a:spcPct val="90000"/>
              </a:lnSpc>
              <a:spcBef>
                <a:spcPts val="0"/>
              </a:spcBef>
              <a:spcAft>
                <a:spcPts val="0"/>
              </a:spcAft>
              <a:buNone/>
            </a:pPr>
            <a:r>
              <a:t/>
            </a:r>
            <a:endParaRPr sz="2000"/>
          </a:p>
          <a:p>
            <a:pPr indent="-406400" lvl="0" marL="457200" rtl="0" algn="l">
              <a:lnSpc>
                <a:spcPct val="90000"/>
              </a:lnSpc>
              <a:spcBef>
                <a:spcPts val="0"/>
              </a:spcBef>
              <a:spcAft>
                <a:spcPts val="0"/>
              </a:spcAft>
              <a:buSzPts val="2800"/>
              <a:buChar char="●"/>
            </a:pPr>
            <a:r>
              <a:rPr lang="en-AU"/>
              <a:t>Model Ensemble Expansion:</a:t>
            </a:r>
            <a:endParaRPr/>
          </a:p>
          <a:p>
            <a:pPr indent="-355600" lvl="1" marL="914400" rtl="0" algn="l">
              <a:spcBef>
                <a:spcPts val="0"/>
              </a:spcBef>
              <a:spcAft>
                <a:spcPts val="0"/>
              </a:spcAft>
              <a:buSzPts val="2000"/>
              <a:buChar char="○"/>
            </a:pPr>
            <a:r>
              <a:rPr lang="en-AU" sz="2000"/>
              <a:t>Use more intelligent weighted combination techniques for confidence-based ensemble.</a:t>
            </a:r>
            <a:endParaRPr sz="2000"/>
          </a:p>
          <a:p>
            <a:pPr indent="-355600" lvl="1" marL="914400" rtl="0" algn="l">
              <a:lnSpc>
                <a:spcPct val="90000"/>
              </a:lnSpc>
              <a:spcBef>
                <a:spcPts val="0"/>
              </a:spcBef>
              <a:spcAft>
                <a:spcPts val="0"/>
              </a:spcAft>
              <a:buSzPts val="2000"/>
              <a:buChar char="○"/>
            </a:pPr>
            <a:r>
              <a:rPr lang="en-AU" sz="2000"/>
              <a:t>Experiment with various model architectures to identify the best ensemble combinations:</a:t>
            </a:r>
            <a:endParaRPr sz="2000"/>
          </a:p>
          <a:p>
            <a:pPr indent="-355600" lvl="2" marL="1371600" rtl="0" algn="l">
              <a:spcBef>
                <a:spcPts val="0"/>
              </a:spcBef>
              <a:spcAft>
                <a:spcPts val="0"/>
              </a:spcAft>
              <a:buSzPts val="2000"/>
              <a:buChar char="■"/>
            </a:pPr>
            <a:r>
              <a:rPr lang="en-AU"/>
              <a:t>Transformer based models combining SegFormer and Segmenter.</a:t>
            </a:r>
            <a:endParaRPr/>
          </a:p>
          <a:p>
            <a:pPr indent="0" lvl="0" marL="1371600" rtl="0" algn="l">
              <a:spcBef>
                <a:spcPts val="0"/>
              </a:spcBef>
              <a:spcAft>
                <a:spcPts val="0"/>
              </a:spcAft>
              <a:buNone/>
            </a:pPr>
            <a:r>
              <a:t/>
            </a:r>
            <a:endParaRPr/>
          </a:p>
          <a:p>
            <a:pPr indent="-406400" lvl="0" marL="457200" rtl="0" algn="l">
              <a:lnSpc>
                <a:spcPct val="90000"/>
              </a:lnSpc>
              <a:spcBef>
                <a:spcPts val="0"/>
              </a:spcBef>
              <a:spcAft>
                <a:spcPts val="0"/>
              </a:spcAft>
              <a:buSzPts val="2800"/>
              <a:buChar char="●"/>
            </a:pPr>
            <a:r>
              <a:rPr lang="en-AU"/>
              <a:t>Further Research &amp; Testing</a:t>
            </a:r>
            <a:endParaRPr/>
          </a:p>
          <a:p>
            <a:pPr indent="-355600" lvl="1" marL="914400" rtl="0" algn="l">
              <a:spcBef>
                <a:spcPts val="0"/>
              </a:spcBef>
              <a:spcAft>
                <a:spcPts val="0"/>
              </a:spcAft>
              <a:buSzPts val="2000"/>
              <a:buChar char="○"/>
            </a:pPr>
            <a:r>
              <a:rPr lang="en-AU" sz="2000"/>
              <a:t>Conduct extensive testing with new models to analyze performance gains.</a:t>
            </a:r>
            <a:endParaRPr sz="2000"/>
          </a:p>
          <a:p>
            <a:pPr indent="-355600" lvl="1" marL="914400" rtl="0" algn="l">
              <a:spcBef>
                <a:spcPts val="0"/>
              </a:spcBef>
              <a:spcAft>
                <a:spcPts val="0"/>
              </a:spcAft>
              <a:buSzPts val="2000"/>
              <a:buChar char="○"/>
            </a:pPr>
            <a:r>
              <a:rPr lang="en-AU" sz="2000"/>
              <a:t>Compare results across segmentation and classification to validate improvements.</a:t>
            </a:r>
            <a:endParaRPr sz="2000"/>
          </a:p>
        </p:txBody>
      </p:sp>
      <p:sp>
        <p:nvSpPr>
          <p:cNvPr id="314" name="Google Shape;31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315" name="Google Shape;315;p37"/>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AU" sz="1100">
                <a:solidFill>
                  <a:schemeClr val="dk1"/>
                </a:solidFill>
              </a:rPr>
              <a:t>Presenter: Sashank Vermani (z5424501)</a:t>
            </a:r>
            <a:endParaRPr sz="11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8"/>
          <p:cNvSpPr txBox="1"/>
          <p:nvPr>
            <p:ph type="title"/>
          </p:nvPr>
        </p:nvSpPr>
        <p:spPr>
          <a:xfrm>
            <a:off x="231648" y="136525"/>
            <a:ext cx="11631300" cy="83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lang="en-AU"/>
              <a:t>Conclusion</a:t>
            </a:r>
            <a:endParaRPr/>
          </a:p>
        </p:txBody>
      </p:sp>
      <p:sp>
        <p:nvSpPr>
          <p:cNvPr id="321" name="Google Shape;321;p38"/>
          <p:cNvSpPr txBox="1"/>
          <p:nvPr>
            <p:ph idx="1" type="body"/>
          </p:nvPr>
        </p:nvSpPr>
        <p:spPr>
          <a:xfrm>
            <a:off x="231648" y="975360"/>
            <a:ext cx="11631300" cy="5035200"/>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Char char="●"/>
            </a:pPr>
            <a:r>
              <a:rPr lang="en-AU" sz="2000"/>
              <a:t>Successful Classification of Breast Cancer Types, demonstrating robust capability across Benign, Malignant and Normal cases.</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AU" sz="2000"/>
              <a:t>S</a:t>
            </a:r>
            <a:r>
              <a:rPr lang="en-AU" sz="2000"/>
              <a:t>uccessfully built models that perform segmentation of breast cancer areas:</a:t>
            </a:r>
            <a:endParaRPr sz="2000"/>
          </a:p>
          <a:p>
            <a:pPr indent="-355600" lvl="1" marL="914400" rtl="0" algn="l">
              <a:spcBef>
                <a:spcPts val="0"/>
              </a:spcBef>
              <a:spcAft>
                <a:spcPts val="0"/>
              </a:spcAft>
              <a:buSzPts val="2000"/>
              <a:buChar char="○"/>
            </a:pPr>
            <a:r>
              <a:rPr lang="en-AU" sz="2000"/>
              <a:t>UNet variations</a:t>
            </a:r>
            <a:endParaRPr sz="2000"/>
          </a:p>
          <a:p>
            <a:pPr indent="-355600" lvl="1" marL="914400" rtl="0" algn="l">
              <a:spcBef>
                <a:spcPts val="0"/>
              </a:spcBef>
              <a:spcAft>
                <a:spcPts val="0"/>
              </a:spcAft>
              <a:buSzPts val="2000"/>
              <a:buChar char="○"/>
            </a:pPr>
            <a:r>
              <a:rPr lang="en-AU" sz="2000"/>
              <a:t>DeepLabV3</a:t>
            </a:r>
            <a:endParaRPr sz="2000"/>
          </a:p>
          <a:p>
            <a:pPr indent="-355600" lvl="1" marL="914400" rtl="0" algn="l">
              <a:spcBef>
                <a:spcPts val="0"/>
              </a:spcBef>
              <a:spcAft>
                <a:spcPts val="0"/>
              </a:spcAft>
              <a:buSzPts val="2000"/>
              <a:buChar char="○"/>
            </a:pPr>
            <a:r>
              <a:rPr lang="en-AU" sz="2000"/>
              <a:t>Ensemble methods</a:t>
            </a:r>
            <a:endParaRPr sz="2000"/>
          </a:p>
          <a:p>
            <a:pPr indent="0" lvl="0" marL="914400" rtl="0" algn="l">
              <a:spcBef>
                <a:spcPts val="0"/>
              </a:spcBef>
              <a:spcAft>
                <a:spcPts val="0"/>
              </a:spcAft>
              <a:buNone/>
            </a:pPr>
            <a:r>
              <a:t/>
            </a:r>
            <a:endParaRPr sz="2000"/>
          </a:p>
          <a:p>
            <a:pPr indent="-355600" lvl="0" marL="457200" rtl="0" algn="l">
              <a:lnSpc>
                <a:spcPct val="115000"/>
              </a:lnSpc>
              <a:spcBef>
                <a:spcPts val="1200"/>
              </a:spcBef>
              <a:spcAft>
                <a:spcPts val="0"/>
              </a:spcAft>
              <a:buSzPts val="2000"/>
              <a:buChar char="●"/>
            </a:pPr>
            <a:r>
              <a:rPr lang="en-AU" sz="2000"/>
              <a:t>The models showcase advancements in the segmentation of complex tissue structures, which is vital for supporting early and accurate cancer detection.</a:t>
            </a:r>
            <a:endParaRPr sz="2000"/>
          </a:p>
          <a:p>
            <a:pPr indent="0" lvl="0" marL="0" rtl="0" algn="l">
              <a:lnSpc>
                <a:spcPct val="115000"/>
              </a:lnSpc>
              <a:spcBef>
                <a:spcPts val="1200"/>
              </a:spcBef>
              <a:spcAft>
                <a:spcPts val="0"/>
              </a:spcAft>
              <a:buNone/>
            </a:pPr>
            <a:r>
              <a:t/>
            </a:r>
            <a:endParaRPr sz="2000"/>
          </a:p>
          <a:p>
            <a:pPr indent="-355600" lvl="0" marL="457200" rtl="0" algn="l">
              <a:lnSpc>
                <a:spcPct val="115000"/>
              </a:lnSpc>
              <a:spcBef>
                <a:spcPts val="1200"/>
              </a:spcBef>
              <a:spcAft>
                <a:spcPts val="0"/>
              </a:spcAft>
              <a:buSzPts val="2000"/>
              <a:buChar char="●"/>
            </a:pPr>
            <a:r>
              <a:rPr lang="en-AU" sz="2000"/>
              <a:t>Clear pathway to improve segmentation results through better models.</a:t>
            </a:r>
            <a:endParaRPr sz="2000"/>
          </a:p>
          <a:p>
            <a:pPr indent="0" lvl="0" marL="0" rtl="0" algn="l">
              <a:lnSpc>
                <a:spcPct val="90000"/>
              </a:lnSpc>
              <a:spcBef>
                <a:spcPts val="1200"/>
              </a:spcBef>
              <a:spcAft>
                <a:spcPts val="0"/>
              </a:spcAft>
              <a:buNone/>
            </a:pPr>
            <a:r>
              <a:t/>
            </a:r>
            <a:endParaRPr sz="1400"/>
          </a:p>
        </p:txBody>
      </p:sp>
      <p:sp>
        <p:nvSpPr>
          <p:cNvPr id="322" name="Google Shape;322;p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323" name="Google Shape;323;p38"/>
          <p:cNvSpPr txBox="1"/>
          <p:nvPr/>
        </p:nvSpPr>
        <p:spPr>
          <a:xfrm>
            <a:off x="119743" y="6225545"/>
            <a:ext cx="7326000" cy="261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AU" sz="1100">
                <a:solidFill>
                  <a:schemeClr val="dk1"/>
                </a:solidFill>
              </a:rPr>
              <a:t>Presenter: Sashank Vermani (z5424501)</a:t>
            </a:r>
            <a:endParaRPr sz="11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descr="A close-up of a sign&#10;&#10;Description automatically generated" id="328" name="Google Shape;328;p39"/>
          <p:cNvPicPr preferRelativeResize="0"/>
          <p:nvPr>
            <p:ph idx="1" type="body"/>
          </p:nvPr>
        </p:nvPicPr>
        <p:blipFill rotWithShape="1">
          <a:blip r:embed="rId3">
            <a:alphaModFix/>
          </a:blip>
          <a:srcRect b="0" l="0" r="0" t="0"/>
          <a:stretch/>
        </p:blipFill>
        <p:spPr>
          <a:xfrm>
            <a:off x="2266192" y="1233577"/>
            <a:ext cx="6705280" cy="4589253"/>
          </a:xfrm>
          <a:prstGeom prst="rect">
            <a:avLst/>
          </a:prstGeom>
          <a:noFill/>
          <a:ln>
            <a:noFill/>
          </a:ln>
        </p:spPr>
      </p:pic>
      <p:sp>
        <p:nvSpPr>
          <p:cNvPr id="329" name="Google Shape;329;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AU"/>
              <a:t>‹#›</a:t>
            </a:fld>
            <a:endParaRPr/>
          </a:p>
        </p:txBody>
      </p:sp>
      <p:sp>
        <p:nvSpPr>
          <p:cNvPr id="330" name="Google Shape;330;p39"/>
          <p:cNvSpPr txBox="1"/>
          <p:nvPr/>
        </p:nvSpPr>
        <p:spPr>
          <a:xfrm>
            <a:off x="368381" y="6308080"/>
            <a:ext cx="6705280"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AU" sz="900" u="sng">
                <a:solidFill>
                  <a:schemeClr val="dk1"/>
                </a:solidFill>
                <a:latin typeface="Calibri"/>
                <a:ea typeface="Calibri"/>
                <a:cs typeface="Calibri"/>
                <a:sym typeface="Calibri"/>
                <a:hlinkClick r:id="rId4">
                  <a:extLst>
                    <a:ext uri="{A12FA001-AC4F-418D-AE19-62706E023703}">
                      <ahyp:hlinkClr val="tx"/>
                    </a:ext>
                  </a:extLst>
                </a:hlinkClick>
              </a:rPr>
              <a:t>This Photo</a:t>
            </a:r>
            <a:r>
              <a:rPr lang="en-AU" sz="900">
                <a:solidFill>
                  <a:schemeClr val="dk1"/>
                </a:solidFill>
                <a:latin typeface="Calibri"/>
                <a:ea typeface="Calibri"/>
                <a:cs typeface="Calibri"/>
                <a:sym typeface="Calibri"/>
              </a:rPr>
              <a:t> by Unknown Author is licensed under </a:t>
            </a:r>
            <a:r>
              <a:rPr lang="en-AU" sz="900" u="sng">
                <a:solidFill>
                  <a:schemeClr val="dk1"/>
                </a:solidFill>
                <a:latin typeface="Calibri"/>
                <a:ea typeface="Calibri"/>
                <a:cs typeface="Calibri"/>
                <a:sym typeface="Calibri"/>
                <a:hlinkClick r:id="rId5">
                  <a:extLst>
                    <a:ext uri="{A12FA001-AC4F-418D-AE19-62706E023703}">
                      <ahyp:hlinkClr val="tx"/>
                    </a:ext>
                  </a:extLst>
                </a:hlinkClick>
              </a:rPr>
              <a:t>CC BY-SA</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